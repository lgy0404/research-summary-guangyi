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03b16677940428b" /><Relationship Type="http://schemas.openxmlformats.org/officeDocument/2006/relationships/extended-properties" Target="/docProps/app.xml" Id="Ref9527540e1c4c47" /><Relationship Type="http://schemas.openxmlformats.org/officeDocument/2006/relationships/officeDocument" Target="/ppt/presentation.xml" Id="Rd401291bfa1c4da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82efa0afc9141c8"/>
  </p:sldMasterIdLst>
  <p:notesMasterIdLst>
    <p:notesMasterId xmlns:r="http://schemas.openxmlformats.org/officeDocument/2006/relationships" r:id="Ra2efa5325e89411d"/>
  </p:notesMasterIdLst>
  <p:sldIdLst>
    <p:sldId xmlns:r="http://schemas.openxmlformats.org/officeDocument/2006/relationships" id="256" r:id="R28e4f14cca6543fe"/>
    <p:sldId xmlns:r="http://schemas.openxmlformats.org/officeDocument/2006/relationships" id="257" r:id="R3b2ab8e5192543f5"/>
    <p:sldId xmlns:r="http://schemas.openxmlformats.org/officeDocument/2006/relationships" id="258" r:id="Ra7d6d3ede73b43c7"/>
    <p:sldId xmlns:r="http://schemas.openxmlformats.org/officeDocument/2006/relationships" id="259" r:id="R2d82a4611e0c41c8"/>
    <p:sldId xmlns:r="http://schemas.openxmlformats.org/officeDocument/2006/relationships" id="260" r:id="R7a9f1a6c82784ffa"/>
    <p:sldId xmlns:r="http://schemas.openxmlformats.org/officeDocument/2006/relationships" id="261" r:id="R28165925f09b4d28"/>
    <p:sldId xmlns:r="http://schemas.openxmlformats.org/officeDocument/2006/relationships" id="262" r:id="Rba19199983a6446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72ac5f10fea4cf0" /><Relationship Type="http://schemas.openxmlformats.org/officeDocument/2006/relationships/slideMaster" Target="/ppt/slideMasters/slideMaster1.xml" Id="R082efa0afc9141c8" /><Relationship Type="http://schemas.openxmlformats.org/officeDocument/2006/relationships/notesMaster" Target="/ppt/notesMasters/notesMaster1.xml" Id="Ra2efa5325e89411d" /><Relationship Type="http://schemas.openxmlformats.org/officeDocument/2006/relationships/presProps" Target="/ppt/presProps.xml" Id="R48b91e66d23b4681" /><Relationship Type="http://schemas.openxmlformats.org/officeDocument/2006/relationships/viewProps" Target="/ppt/viewProps.xml" Id="Rc711e36931594825" /><Relationship Type="http://schemas.openxmlformats.org/officeDocument/2006/relationships/tableStyles" Target="/ppt/tableStyles.xml" Id="Re4884425ed504a3d" /><Relationship Type="http://schemas.openxmlformats.org/officeDocument/2006/relationships/slide" Target="/ppt/slides/slide1.xml" Id="R28e4f14cca6543fe" /><Relationship Type="http://schemas.openxmlformats.org/officeDocument/2006/relationships/slide" Target="/ppt/slides/slide2.xml" Id="R3b2ab8e5192543f5" /><Relationship Type="http://schemas.openxmlformats.org/officeDocument/2006/relationships/slide" Target="/ppt/slides/slide3.xml" Id="Ra7d6d3ede73b43c7" /><Relationship Type="http://schemas.openxmlformats.org/officeDocument/2006/relationships/slide" Target="/ppt/slides/slide4.xml" Id="R2d82a4611e0c41c8" /><Relationship Type="http://schemas.openxmlformats.org/officeDocument/2006/relationships/slide" Target="/ppt/slides/slide5.xml" Id="R7a9f1a6c82784ffa" /><Relationship Type="http://schemas.openxmlformats.org/officeDocument/2006/relationships/slide" Target="/ppt/slides/slide6.xml" Id="R28165925f09b4d28" /><Relationship Type="http://schemas.openxmlformats.org/officeDocument/2006/relationships/slide" Target="/ppt/slides/slide7.xml" Id="Rba19199983a6446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ee1b4dc80ce4be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自定义 3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C2CAA"/>
      </a:accent1>
      <a:accent2>
        <a:srgbClr val="A94F0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自定义 3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f738e9f1cc940ae" /><Relationship Type="http://schemas.openxmlformats.org/officeDocument/2006/relationships/notesMaster" Target="/ppt/notesMasters/notesMaster1.xml" Id="R214f3ef0e57b4ea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39335d369e948a1" /><Relationship Type="http://schemas.openxmlformats.org/officeDocument/2006/relationships/notesMaster" Target="/ppt/notesMasters/notesMaster1.xml" Id="Rc0e4dc756f65493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64723881aae4154" /><Relationship Type="http://schemas.openxmlformats.org/officeDocument/2006/relationships/notesMaster" Target="/ppt/notesMasters/notesMaster1.xml" Id="R31afe8c0b028498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3fdc164bd0346cd" /><Relationship Type="http://schemas.openxmlformats.org/officeDocument/2006/relationships/notesMaster" Target="/ppt/notesMasters/notesMaster1.xml" Id="R963a7934d3904dd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65ede8242344716" /><Relationship Type="http://schemas.openxmlformats.org/officeDocument/2006/relationships/notesMaster" Target="/ppt/notesMasters/notesMaster1.xml" Id="R7842f8b134b04f3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2968f8091ad4ae5" /><Relationship Type="http://schemas.openxmlformats.org/officeDocument/2006/relationships/notesMaster" Target="/ppt/notesMasters/notesMaster1.xml" Id="R0e50395db3184e8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4c1b6818feb4802" /><Relationship Type="http://schemas.openxmlformats.org/officeDocument/2006/relationships/notesMaster" Target="/ppt/notesMasters/notesMaster1.xml" Id="R906c46706b484d0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>Open with the long-term research goal: agents that learn, remember, and act reliably in real digital environments.</a:t>
            </a:r>
            <a:endParaRPr/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/>
            </a:r>
            <a:endParaRPr/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>[Sources]</a:t>
            </a:r>
            <a:endParaRPr/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>- /Users/liuguangyi05/code/personal-info-guangyi/Guangyi-CV-latex/main.tex</a:t>
            </a:r>
            <a:endParaRPr/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>- /Users/liuguangyi05/code/personal-info-guangyi/lgy0404.github.io/_pages/about.md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>Establish the overall profile in forty seconds: a focused research direction, a coherent body of work, and measurable academic and open-source impact. Metrics updated Aug 9, 2026.</a:t>
            </a:r>
            <a:endParaRPr/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/>
            </a:r>
            <a:endParaRPr/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>[Sources]</a:t>
            </a:r>
            <a:endParaRPr/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>- /Users/liuguangyi05/code/personal-info-guangyi/Guangyi-CV-latex/main.tex</a:t>
            </a:r>
            <a:endParaRPr/>
          </a:p>
          <a:p xmlns:a="http://schemas.openxmlformats.org/drawingml/2006/main"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t>- /Users/liuguangyi05/code/personal-info-guangyi/lgy0404.github.io/_pages/about.md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Highlight the continuous path from automation and control to universal digital agents, supported by the top undergraduate ranking and two National Scholarships.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/Users/liuguangyi05/code/personal-info-guangyi/Guangyi-CV-latex/main.tex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two consecutive industry research experiences demonstrate a closed loop across research, engineering, and application rather than paper-only collaboration.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/Users/liuguangyi05/code/personal-info-guangyi/Guangyi-CV-latex/main.tex</a:t>
            </a:r>
            <a:endParaRPr/>
          </a:p>
          <a:p xmlns:a="http://schemas.openxmlformats.org/drawingml/2006/main">
            <a:r>
              <a:t>- /Users/liuguangyi05/code/personal-info-guangyi/lgy0404.github.io/_pages/about.md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Mobile GUIs are the current proving ground because they combine dynamic interfaces, sparse feedback, hidden state, long-tail workflows, and deployment constraints.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/Users/liuguangyi05/code/personal-info-guangyi/Guangyi-CV-latex/main.tex</a:t>
            </a:r>
          </a:p>
          <a:p xmlns:a="http://schemas.openxmlformats.org/drawingml/2006/main">
            <a:r>
              <a:t>- /Users/liuguangyi05/code/personal-info-guangyi/research-summary-guangyi/interview-slides/slidev/slides.md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Emphasize ownership of the full research loop: not only algorithms, but also environments, data, evaluation, and reproducible systems.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/Users/liuguangyi05/code/personal-info-guangyi/research-summary-guangyi/interview-slides/slidev/slides.md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as the transition from the candidate overview to the paper-by-paper discussion that follows the same research arc.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/Users/liuguangyi05/code/personal-info-guangyi/Guangyi-CV-latex/main.tex</a:t>
            </a:r>
            <a:endParaRPr/>
          </a:p>
          <a:p xmlns:a="http://schemas.openxmlformats.org/drawingml/2006/main">
            <a:r>
              <a:t>- /Users/liuguangyi05/code/personal-info-guangyi/lgy0404.github.io/_pages/about.md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6871ad78e34c4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e6446ec5424b6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d6ec4003fc477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0355a835f046e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48bb31456e428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5c0eb5016c4be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2a43535cb8428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a22c3ac7b74986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0bd7e96839445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92d80162484fe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f851657960455e" /></Relationships>
</file>

<file path=ppt/slideLayouts/slideLayout1.xml><?xml version="1.0" encoding="utf-8"?>
<p:sldLayout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副标题 2">
            <a:extLst xmlns:a="http://schemas.openxmlformats.org/drawingml/2006/main">
              <a:ext uri="{FF2B5EF4-FFF2-40B4-BE49-F238E27FC236}">
                <a16:creationId xmlns:a16="http://schemas.microsoft.com/office/drawing/2014/main" id="{1330E96E-7AEF-46B7-A5AA-1CEE35D8433D}"/>
              </a:ext>
            </a:extLst>
          </p:cNvPr>
          <p:cNvSpPr>
            <a:spLocks xmlns:a="http://schemas.openxmlformats.org/drawingml/2006/main" noGrp="1"/>
          </p:cNvSpPr>
          <p:nvPr>
            <p:ph type="subTitle" idx="1" hasCustomPrompt="1"/>
          </p:nvPr>
        </p:nvSpPr>
        <p:spPr>
          <a:xfrm xmlns:a="http://schemas.openxmlformats.org/drawingml/2006/main">
            <a:off x="1485899" y="2983971"/>
            <a:ext cx="9144000" cy="1113896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 algn="ctr">
              <a:buNone/>
              <a:defRPr sz="20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 xmlns:a="http://schemas.openxmlformats.org/drawingml/2006/main">
            <a:r>
              <a:rPr sz="1800">
                <a:latin typeface="Adobe Heiti Std R"/>
                <a:ea typeface="Adobe Heiti Std R"/>
                <a:cs typeface="Adobe Heiti Std R"/>
              </a:rPr>
              <a:t>单击此处编辑母版作者信息样式</a:t>
            </a:r>
            <a:endParaRPr sz="1800">
              <a:latin typeface="Adobe Heiti Std R"/>
              <a:ea typeface="Adobe Heiti Std R"/>
              <a:cs typeface="Adobe Heiti Std R"/>
            </a:endParaRPr>
          </a:p>
          <a:p xmlns:a="http://schemas.openxmlformats.org/drawingml/2006/main">
            <a:endParaRPr sz="1800">
              <a:latin typeface="Adobe Heiti Std R"/>
              <a:ea typeface="Adobe Heiti Std R"/>
              <a:cs typeface="Adobe Heiti Std R"/>
            </a:endParaRPr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C9E3872E-94F5-43E1-B642-2E9D5A538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796" y="1402663"/>
            <a:ext cx="10521244" cy="105833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3138AC"/>
          </a:solidFill>
          <a:effectLst xmlns:a="http://schemas.openxmlformats.org/drawingml/2006/main">
            <a:outerShdw blurRad="50800" dist="38100" dir="6540000" sx="101000" sy="101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8C0121C4-C96B-400B-9EB9-63BBB3CCEDC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579813"/>
            <a:ext cx="9144000" cy="848376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algn="ctr">
              <a:buNone/>
              <a:defRPr sz="2800"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6" name="文本框 5">
            <a:extLst xmlns:a="http://schemas.openxmlformats.org/drawingml/2006/main">
              <a:ext uri="{FF2B5EF4-FFF2-40B4-BE49-F238E27FC236}">
                <a16:creationId xmlns:a16="http://schemas.microsoft.com/office/drawing/2014/main" id="{9F73F50A-0F10-4D32-A1AD-30B3A65FD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3560" y="7075805"/>
            <a:ext cx="4064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B2192687-D0A6-480A-82C3-52F9002D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42109"/>
          </a:xfrm>
          <a:prstGeom xmlns:a="http://schemas.openxmlformats.org/drawingml/2006/main" prst="rect">
            <a:avLst/>
          </a:prstGeom>
          <a:gradFill xmlns:a="http://schemas.openxmlformats.org/drawingml/2006/main" rotWithShape="1">
            <a:gsLst>
              <a:gs pos="40000">
                <a:srgbClr val="2C2DA9"/>
              </a:gs>
              <a:gs pos="13000">
                <a:srgbClr val="2C2DA9"/>
              </a:gs>
              <a:gs pos="0">
                <a:schemeClr val="bg1"/>
              </a:gs>
            </a:gsLst>
            <a:lin ang="16200000" scaled="1"/>
            <a:tileRect/>
          </a:gradFill>
          <a:ln xmlns:a="http://schemas.openxmlformats.org/drawingml/2006/main">
            <a:noFill/>
          </a:ln>
          <a:effectLst xmlns:a="http://schemas.openxmlformats.org/drawingml/2006/main">
            <a:softEdge rad="0"/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F207F70C-3F4D-490A-B063-9A5D4E6BE1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48490"/>
            <a:ext cx="10515600" cy="845127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800"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6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BF281A45-ED75-4C82-8ED8-9E2D7E5C25B8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838200" y="1205345"/>
            <a:ext cx="10515600" cy="4971618"/>
          </a:xfrm>
        </p:spPr>
        <p:txBody>
          <a:bodyPr xmlns:a="http://schemas.openxmlformats.org/drawingml/2006/main"/>
          <a:lstStyle xmlns:a="http://schemas.openxmlformats.org/drawingml/2006/main">
            <a:lvl1pPr marL="273050" indent="-273050">
              <a:buFont typeface="Arial"/>
              <a:buChar char="•"/>
              <a:defRPr/>
            </a:lvl1pPr>
          </a:lstStyle>
          <a:p xmlns:a="http://schemas.openxmlformats.org/drawingml/2006/main">
            <a:r>
              <a:t>编辑母版文本样式
第二级
第三级
第四级
第五级</a:t>
            </a: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67EFEE7F-A3AC-437F-AA9D-3411D522E8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1" y="1709739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4500"/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EC85F7E0-8D7B-48CA-999A-455E32E4A4A1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831851" y="4589464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编辑母版文本样式
第二级
第三级
第四级
第五级</a:t>
            </a: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C105F397-E7D7-447B-B2AA-78447DFC1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42109"/>
          </a:xfrm>
          <a:prstGeom xmlns:a="http://schemas.openxmlformats.org/drawingml/2006/main" prst="rect">
            <a:avLst/>
          </a:prstGeom>
          <a:gradFill xmlns:a="http://schemas.openxmlformats.org/drawingml/2006/main" rotWithShape="1">
            <a:gsLst>
              <a:gs pos="40000">
                <a:srgbClr val="2C2DA9"/>
              </a:gs>
              <a:gs pos="13000">
                <a:srgbClr val="2C2DA9"/>
              </a:gs>
              <a:gs pos="0">
                <a:schemeClr val="bg1"/>
              </a:gs>
            </a:gsLst>
            <a:lin ang="16200000" scaled="1"/>
            <a:tileRect/>
          </a:gradFill>
          <a:ln xmlns:a="http://schemas.openxmlformats.org/drawingml/2006/main">
            <a:noFill/>
          </a:ln>
          <a:effectLst xmlns:a="http://schemas.openxmlformats.org/drawingml/2006/main">
            <a:softEdge rad="0"/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EFF27B4A-5453-4F7F-BA00-F2D3FFF68C65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838200" y="1126067"/>
            <a:ext cx="5181600" cy="5050896"/>
          </a:xfr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273050" indent="-273050">
              <a:buFont typeface="Arial"/>
              <a:buChar char="•"/>
              <a:defRPr/>
            </a:lvl1pPr>
          </a:lstStyle>
          <a:p xmlns:a="http://schemas.openxmlformats.org/drawingml/2006/main">
            <a:pPr marL="273050" lvl="0" indent="-273050">
              <a:buNone/>
            </a:pPr>
            <a:r>
              <a:t>编辑母版文本样式
第二级
第三级
第四级
第五级</a:t>
            </a:r>
            <a:endParaRPr/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E1F30F51-19E9-426F-8B09-FEFD45239CD0}"/>
              </a:ext>
            </a:extLst>
          </p:cNvPr>
          <p:cNvSpPr>
            <a:spLocks xmlns:a="http://schemas.openxmlformats.org/drawingml/2006/main" noGrp="1"/>
          </p:cNvSpPr>
          <p:nvPr>
            <p:ph idx="2" hasCustomPrompt="1"/>
          </p:nvPr>
        </p:nvSpPr>
        <p:spPr>
          <a:xfrm xmlns:a="http://schemas.openxmlformats.org/drawingml/2006/main">
            <a:off x="6172200" y="1126067"/>
            <a:ext cx="5181600" cy="5050896"/>
          </a:xfr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273050" indent="-273050">
              <a:buFont typeface="Arial"/>
              <a:buChar char="•"/>
              <a:defRPr/>
            </a:lvl1pPr>
          </a:lstStyle>
          <a:p xmlns:a="http://schemas.openxmlformats.org/drawingml/2006/main">
            <a:pPr marL="273050" lvl="0" indent="-273050">
              <a:buNone/>
            </a:pPr>
            <a:r>
              <a:t>编辑母版文本样式
第二级
第三级
第四级
第五级</a:t>
            </a:r>
            <a:endParaRPr/>
          </a:p>
        </p:txBody>
      </p:sp>
      <p:sp>
        <p:nvSpPr>
          <p:cNvPr id="10" name="标题 1">
            <a:extLst xmlns:a="http://schemas.openxmlformats.org/drawingml/2006/main">
              <a:ext uri="{FF2B5EF4-FFF2-40B4-BE49-F238E27FC236}">
                <a16:creationId xmlns:a16="http://schemas.microsoft.com/office/drawing/2014/main" id="{DE0E9EFE-EABC-4E5F-B5A6-4ABF281CF2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48490"/>
            <a:ext cx="10515600" cy="845127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800"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25CC7F45-70AA-49AF-9FF0-89D00121B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42109"/>
          </a:xfrm>
          <a:prstGeom xmlns:a="http://schemas.openxmlformats.org/drawingml/2006/main" prst="rect">
            <a:avLst/>
          </a:prstGeom>
          <a:gradFill xmlns:a="http://schemas.openxmlformats.org/drawingml/2006/main" rotWithShape="1">
            <a:gsLst>
              <a:gs pos="40000">
                <a:srgbClr val="2C2DA9"/>
              </a:gs>
              <a:gs pos="13000">
                <a:srgbClr val="2C2DA9"/>
              </a:gs>
              <a:gs pos="0">
                <a:schemeClr val="bg1"/>
              </a:gs>
            </a:gsLst>
            <a:lin ang="16200000" scaled="1"/>
            <a:tileRect/>
          </a:gradFill>
          <a:ln xmlns:a="http://schemas.openxmlformats.org/drawingml/2006/main">
            <a:noFill/>
          </a:ln>
          <a:effectLst xmlns:a="http://schemas.openxmlformats.org/drawingml/2006/main">
            <a:softEdge rad="0"/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63D5D92F-1A3C-491D-96B1-F5A81E858112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839789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 xmlns:a="http://schemas.openxmlformats.org/drawingml/2006/main">
            <a:r>
              <a:t>编辑母版文本样式
第二级
第三级
第四级
第五级</a:t>
            </a:r>
            <a:endParaRPr/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7C4CE11E-D48F-4EE1-B369-595B8FBB9593}"/>
              </a:ext>
            </a:extLst>
          </p:cNvPr>
          <p:cNvSpPr>
            <a:spLocks xmlns:a="http://schemas.openxmlformats.org/drawingml/2006/main" noGrp="1"/>
          </p:cNvSpPr>
          <p:nvPr>
            <p:ph idx="2" hasCustomPrompt="1"/>
          </p:nvPr>
        </p:nvSpPr>
        <p:spPr>
          <a:xfrm xmlns:a="http://schemas.openxmlformats.org/drawingml/2006/main">
            <a:off x="839789" y="2505075"/>
            <a:ext cx="5157787" cy="3684588"/>
          </a:xfr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273050" indent="-273050">
              <a:buFont typeface="Arial"/>
              <a:buChar char="•"/>
              <a:defRPr/>
            </a:lvl1pPr>
          </a:lstStyle>
          <a:p xmlns:a="http://schemas.openxmlformats.org/drawingml/2006/main">
            <a:pPr marL="273050" lvl="0" indent="-273050">
              <a:buNone/>
            </a:pPr>
            <a:r>
              <a:t>编辑母版文本样式
第二级
第三级
第四级
第五级</a:t>
            </a:r>
            <a:endParaRPr/>
          </a:p>
        </p:txBody>
      </p:sp>
      <p:sp>
        <p:nvSpPr>
          <p:cNvPr id="5" name="文本占位符 4">
            <a:extLst xmlns:a="http://schemas.openxmlformats.org/drawingml/2006/main">
              <a:ext uri="{FF2B5EF4-FFF2-40B4-BE49-F238E27FC236}">
                <a16:creationId xmlns:a16="http://schemas.microsoft.com/office/drawing/2014/main" id="{C929D00C-B720-4E40-B64B-0C28B9A3AC0A}"/>
              </a:ext>
            </a:extLst>
          </p:cNvPr>
          <p:cNvSpPr>
            <a:spLocks xmlns:a="http://schemas.openxmlformats.org/drawingml/2006/main" noGrp="1"/>
          </p:cNvSpPr>
          <p:nvPr>
            <p:ph type="body" idx="3" hasCustomPrompt="1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 xmlns:a="http://schemas.openxmlformats.org/drawingml/2006/main">
            <a:r>
              <a:t>编辑母版文本样式
第二级
第三级
第四级
第五级</a:t>
            </a:r>
            <a:endParaRPr/>
          </a:p>
        </p:txBody>
      </p:sp>
      <p:sp>
        <p:nvSpPr>
          <p:cNvPr id="6" name="内容占位符 5">
            <a:extLst xmlns:a="http://schemas.openxmlformats.org/drawingml/2006/main">
              <a:ext uri="{FF2B5EF4-FFF2-40B4-BE49-F238E27FC236}">
                <a16:creationId xmlns:a16="http://schemas.microsoft.com/office/drawing/2014/main" id="{12DFFD60-11A9-4F08-82AC-E721DD50A828}"/>
              </a:ext>
            </a:extLst>
          </p:cNvPr>
          <p:cNvSpPr>
            <a:spLocks xmlns:a="http://schemas.openxmlformats.org/drawingml/2006/main" noGrp="1"/>
          </p:cNvSpPr>
          <p:nvPr>
            <p:ph idx="4" hasCustomPrompt="1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273050" indent="-273050">
              <a:buFont typeface="Arial"/>
              <a:buChar char="•"/>
              <a:defRPr/>
            </a:lvl1pPr>
          </a:lstStyle>
          <a:p xmlns:a="http://schemas.openxmlformats.org/drawingml/2006/main">
            <a:pPr marL="273050" lvl="0" indent="-273050">
              <a:buNone/>
            </a:pPr>
            <a:r>
              <a:t>编辑母版文本样式
第二级
第三级
第四级
第五级</a:t>
            </a:r>
            <a:endParaRPr/>
          </a:p>
        </p:txBody>
      </p:sp>
      <p:sp>
        <p:nvSpPr>
          <p:cNvPr id="9" name="标题 1">
            <a:extLst xmlns:a="http://schemas.openxmlformats.org/drawingml/2006/main">
              <a:ext uri="{FF2B5EF4-FFF2-40B4-BE49-F238E27FC236}">
                <a16:creationId xmlns:a16="http://schemas.microsoft.com/office/drawing/2014/main" id="{33B08116-9097-4753-861D-D6027F1130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48490"/>
            <a:ext cx="10515600" cy="845127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800"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10A60B9C-D680-4868-B044-23515181E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42109"/>
          </a:xfrm>
          <a:prstGeom xmlns:a="http://schemas.openxmlformats.org/drawingml/2006/main" prst="rect">
            <a:avLst/>
          </a:prstGeom>
          <a:gradFill xmlns:a="http://schemas.openxmlformats.org/drawingml/2006/main" rotWithShape="1">
            <a:gsLst>
              <a:gs pos="40000">
                <a:srgbClr val="2C2DA9"/>
              </a:gs>
              <a:gs pos="13000">
                <a:srgbClr val="2C2DA9"/>
              </a:gs>
              <a:gs pos="0">
                <a:schemeClr val="bg1"/>
              </a:gs>
            </a:gsLst>
            <a:lin ang="16200000" scaled="1"/>
            <a:tileRect/>
          </a:gradFill>
          <a:ln xmlns:a="http://schemas.openxmlformats.org/drawingml/2006/main">
            <a:noFill/>
          </a:ln>
          <a:effectLst xmlns:a="http://schemas.openxmlformats.org/drawingml/2006/main">
            <a:softEdge rad="0"/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标题 1">
            <a:extLst xmlns:a="http://schemas.openxmlformats.org/drawingml/2006/main">
              <a:ext uri="{FF2B5EF4-FFF2-40B4-BE49-F238E27FC236}">
                <a16:creationId xmlns:a16="http://schemas.microsoft.com/office/drawing/2014/main" id="{2CE498F4-A858-43B0-96EA-2BAE588860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48490"/>
            <a:ext cx="10515600" cy="845127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800"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8.xml><?xml version="1.0" encoding="utf-8"?>
<p:sldLayout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80C91F8B-53D9-4004-8DDB-0D127883B12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2400"/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EF32A864-BCB5-40DE-9006-E73BFA3E83E2}"/>
              </a:ext>
            </a:extLst>
          </p:cNvPr>
          <p:cNvSpPr>
            <a:spLocks xmlns:a="http://schemas.openxmlformats.org/drawingml/2006/main" noGrp="1"/>
          </p:cNvSpPr>
          <p:nvPr>
            <p:ph idx="1" hasCustomPrompt="1"/>
          </p:nvPr>
        </p:nvSpPr>
        <p:spPr>
          <a:xfrm xmlns:a="http://schemas.openxmlformats.org/drawingml/2006/main">
            <a:off x="5183188" y="987426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342900" indent="-342900">
              <a:buFont typeface="Arial"/>
              <a:buChar char="•"/>
              <a:defRPr sz="2400"/>
            </a:lvl1pPr>
            <a:lvl2pPr>
              <a:buNone/>
              <a:defRPr sz="2100"/>
            </a:lvl2pPr>
            <a:lvl3pPr>
              <a:buNone/>
              <a:defRPr sz="1800"/>
            </a:lvl3pPr>
            <a:lvl4pPr>
              <a:buNone/>
              <a:defRPr sz="1500"/>
            </a:lvl4pPr>
            <a:lvl5pPr>
              <a:buNone/>
              <a:defRPr sz="1500"/>
            </a:lvl5pPr>
            <a:lvl6pPr>
              <a:buNone/>
              <a:defRPr sz="1500"/>
            </a:lvl6pPr>
            <a:lvl7pPr>
              <a:buNone/>
              <a:defRPr sz="1500"/>
            </a:lvl7pPr>
            <a:lvl8pPr>
              <a:buNone/>
              <a:defRPr sz="1500"/>
            </a:lvl8pPr>
            <a:lvl9pPr>
              <a:buNone/>
              <a:defRPr sz="1500"/>
            </a:lvl9pPr>
          </a:lstStyle>
          <a:p xmlns:a="http://schemas.openxmlformats.org/drawingml/2006/main">
            <a:r>
              <a:t>编辑母版文本样式
第二级
第三级
第四级
第五级</a:t>
            </a:r>
            <a:endParaRPr/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7B864039-6967-41F8-B614-DD82BF92CAE8}"/>
              </a:ext>
            </a:extLst>
          </p:cNvPr>
          <p:cNvSpPr>
            <a:spLocks xmlns:a="http://schemas.openxmlformats.org/drawingml/2006/main" noGrp="1"/>
          </p:cNvSpPr>
          <p:nvPr>
            <p:ph type="body" idx="2" hasCustomPrompt="1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 xmlns:a="http://schemas.openxmlformats.org/drawingml/2006/main">
            <a:r>
              <a:t>编辑母版文本样式
第二级
第三级
第四级
第五级</a:t>
            </a:r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FF90E0E7-2AF5-489D-92AC-08FDF0A003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2400"/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图片占位符 2">
            <a:extLst xmlns:a="http://schemas.openxmlformats.org/drawingml/2006/main">
              <a:ext uri="{FF2B5EF4-FFF2-40B4-BE49-F238E27FC236}">
                <a16:creationId xmlns:a16="http://schemas.microsoft.com/office/drawing/2014/main" id="{25587B39-AA76-443C-86A8-71E6462FA484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6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 xmlns:a="http://schemas.openxmlformats.org/drawingml/2006/main">
            <a:endParaRPr/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4020FBB9-37BF-4193-B2A3-AAF34490DD5C}"/>
              </a:ext>
            </a:extLst>
          </p:cNvPr>
          <p:cNvSpPr>
            <a:spLocks xmlns:a="http://schemas.openxmlformats.org/drawingml/2006/main" noGrp="1"/>
          </p:cNvSpPr>
          <p:nvPr>
            <p:ph type="body" idx="2" hasCustomPrompt="1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 xmlns:a="http://schemas.openxmlformats.org/drawingml/2006/main">
            <a:r>
              <a:t>编辑母版文本样式
第二级
第三级
第四级
第五级</a:t>
            </a:r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038D8B96-C578-4F68-8BAA-6CA61CC0A2EE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838200" y="1193800"/>
            <a:ext cx="10515600" cy="4983163"/>
          </a:xfrm>
        </p:spPr>
        <p:txBody>
          <a:bodyPr xmlns:a="http://schemas.openxmlformats.org/drawingml/2006/main" vert="eaVert"/>
          <a:lstStyle xmlns:a="http://schemas.openxmlformats.org/drawingml/2006/main">
            <a:lvl1pPr marL="273050" indent="-273050">
              <a:buFont typeface="Arial"/>
              <a:buChar char="•"/>
              <a:defRPr/>
            </a:lvl1pPr>
          </a:lstStyle>
          <a:p xmlns:a="http://schemas.openxmlformats.org/drawingml/2006/main">
            <a:r>
              <a:t>编辑母版文本样式
第二级
第三级
第四级
第五级</a:t>
            </a:r>
            <a:endParaRPr/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4BB19875-6774-42E6-BBD0-857EBC289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42109"/>
          </a:xfrm>
          <a:prstGeom xmlns:a="http://schemas.openxmlformats.org/drawingml/2006/main" prst="rect">
            <a:avLst/>
          </a:prstGeom>
          <a:gradFill xmlns:a="http://schemas.openxmlformats.org/drawingml/2006/main" rotWithShape="1">
            <a:gsLst>
              <a:gs pos="40000">
                <a:srgbClr val="2C2DA9"/>
              </a:gs>
              <a:gs pos="13000">
                <a:srgbClr val="2C2DA9"/>
              </a:gs>
              <a:gs pos="0">
                <a:schemeClr val="bg1"/>
              </a:gs>
            </a:gsLst>
            <a:lin ang="16200000" scaled="1"/>
            <a:tileRect/>
          </a:gradFill>
          <a:ln xmlns:a="http://schemas.openxmlformats.org/drawingml/2006/main">
            <a:noFill/>
          </a:ln>
          <a:effectLst xmlns:a="http://schemas.openxmlformats.org/drawingml/2006/main">
            <a:softEdge rad="0"/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标题 1">
            <a:extLst xmlns:a="http://schemas.openxmlformats.org/drawingml/2006/main">
              <a:ext uri="{FF2B5EF4-FFF2-40B4-BE49-F238E27FC236}">
                <a16:creationId xmlns:a16="http://schemas.microsoft.com/office/drawing/2014/main" id="{5028F573-321E-4BC4-9167-98BAA57BA9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48490"/>
            <a:ext cx="10515600" cy="845127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800"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竖排标题 1">
            <a:extLst xmlns:a="http://schemas.openxmlformats.org/drawingml/2006/main">
              <a:ext uri="{FF2B5EF4-FFF2-40B4-BE49-F238E27FC236}">
                <a16:creationId xmlns:a16="http://schemas.microsoft.com/office/drawing/2014/main" id="{6E690199-85BA-445C-A321-4D9106E43E3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5B39FF8C-0C7B-4549-985A-F5432D90DB2C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>
            <a:lvl1pPr marL="273050" indent="-273050">
              <a:buFont typeface="Arial"/>
              <a:buChar char="•"/>
              <a:defRPr/>
            </a:lvl1pPr>
          </a:lstStyle>
          <a:p xmlns:a="http://schemas.openxmlformats.org/drawingml/2006/main">
            <a:r>
              <a:t>编辑母版文本样式
第二级
第三级
第四级
第五级</a:t>
            </a:r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4f8fe8df8174550" /><Relationship Type="http://schemas.openxmlformats.org/officeDocument/2006/relationships/slideLayout" Target="/ppt/slideLayouts/slideLayout1.xml" Id="R780f00b69c17402c" /><Relationship Type="http://schemas.openxmlformats.org/officeDocument/2006/relationships/slideLayout" Target="/ppt/slideLayouts/slideLayout2.xml" Id="R60363ed5d9ca44d8" /><Relationship Type="http://schemas.openxmlformats.org/officeDocument/2006/relationships/slideLayout" Target="/ppt/slideLayouts/slideLayout3.xml" Id="R8a780c3e49864387" /><Relationship Type="http://schemas.openxmlformats.org/officeDocument/2006/relationships/slideLayout" Target="/ppt/slideLayouts/slideLayout4.xml" Id="Rf88135b0188445f0" /><Relationship Type="http://schemas.openxmlformats.org/officeDocument/2006/relationships/slideLayout" Target="/ppt/slideLayouts/slideLayout5.xml" Id="R610885928faf4868" /><Relationship Type="http://schemas.openxmlformats.org/officeDocument/2006/relationships/slideLayout" Target="/ppt/slideLayouts/slideLayout6.xml" Id="Rbb35b66196db4779" /><Relationship Type="http://schemas.openxmlformats.org/officeDocument/2006/relationships/slideLayout" Target="/ppt/slideLayouts/slideLayout7.xml" Id="R8d7b0be812fa4ed9" /><Relationship Type="http://schemas.openxmlformats.org/officeDocument/2006/relationships/slideLayout" Target="/ppt/slideLayouts/slideLayout8.xml" Id="Ra208f959023548c8" /><Relationship Type="http://schemas.openxmlformats.org/officeDocument/2006/relationships/slideLayout" Target="/ppt/slideLayouts/slideLayout9.xml" Id="Rdfc12a1142c74066" /><Relationship Type="http://schemas.openxmlformats.org/officeDocument/2006/relationships/slideLayout" Target="/ppt/slideLayouts/slideLayout10.xml" Id="R0e661ce0d6af4c7c" /><Relationship Type="http://schemas.openxmlformats.org/officeDocument/2006/relationships/slideLayout" Target="/ppt/slideLayouts/slideLayout11.xml" Id="R30fc6253c8644c91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DB7B4622-8F88-436C-B8B6-AF65CA6711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6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6D1578B3-7CC5-45DC-B718-48BFD9BEEFD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r>
              <a:t>编辑母版文本样式
第二级
第三级
第四级
第五级</a:t>
            </a:r>
            <a:endParaRPr/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0096DD7A-89A1-4469-9659-7DE7BCD64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37866"/>
            <a:ext cx="4080000" cy="22013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C5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/>
              <a:t>Guangyi </a:t>
            </a:r>
            <a:r>
              <a:rPr sz="1200"/>
              <a:t>Liu</a:t>
            </a:r>
            <a:endParaRPr sz="1200"/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9E8BCD83-E0A5-4190-8F00-BF2BDF299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4000" y="6637867"/>
            <a:ext cx="4080000" cy="2201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2A8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200"/>
              <a:t>Universal Digital Agents</a:t>
            </a:r>
            <a:endParaRPr sz="1200"/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ACC6C1B8-6483-41BF-842B-582F59791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2000" y="6637866"/>
            <a:ext cx="4080000" cy="22013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38AC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200"/>
          </a:p>
        </p:txBody>
      </p:sp>
      <p:sp>
        <p:nvSpPr>
          <p:cNvPr id="9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A59813B9-CBEC-4C9B-803C-5FEC3B38B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0773" y="6637866"/>
            <a:ext cx="1362187" cy="2201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marL="0" algn="l" defTabSz="457200">
              <a:buNone/>
              <a:defRPr sz="900" kern="1200">
                <a:solidFill>
                  <a:schemeClr val="bg1"/>
                </a:solidFill>
                <a:latin typeface="+mn-lt"/>
                <a:ea typeface="+mn-lt"/>
                <a:cs typeface="+mn-lt"/>
              </a:defRPr>
            </a:lvl1pPr>
            <a:lvl2pPr marL="4572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 sz="1000">
              <a:latin typeface="Hiragino Sans GB W3"/>
              <a:ea typeface="Hiragino Sans GB W3"/>
              <a:cs typeface="Hiragino Sans GB W3"/>
            </a:endParaRPr>
          </a:p>
        </p:txBody>
      </p:sp>
      <p:sp>
        <p:nvSpPr>
          <p:cNvPr id="10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F785F8A9-E11F-4BFB-9F76-039060816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637865"/>
            <a:ext cx="728507" cy="22013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marL="0" algn="l" defTabSz="457200">
              <a:buNone/>
              <a:defRPr sz="900" kern="1200">
                <a:solidFill>
                  <a:schemeClr val="bg1"/>
                </a:solidFill>
                <a:latin typeface="+mn-lt"/>
                <a:ea typeface="+mn-lt"/>
                <a:cs typeface="+mn-lt"/>
              </a:defRPr>
            </a:lvl1pPr>
            <a:lvl2pPr marL="4572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4572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l">
              <a:buNone/>
            </a:pPr>
            <a:fld id="{4F42B4B9-4F4F-DC40-8BF5-0036F3636617}" type="slidenum">
              <a:rPr lang="en-US" sz="1000">
                <a:solidFill>
                  <a:schemeClr val="bg1"/>
                </a:solidFill>
                <a:latin typeface="Hiragino Sans GB W3"/>
                <a:ea typeface="Hiragino Sans GB W3"/>
                <a:cs typeface="Hiragino Sans GB W3"/>
              </a:rPr>
            </a:fld>
            <a:r>
              <a:rPr lang="en-US" sz="1000">
                <a:solidFill>
                  <a:schemeClr val="bg1"/>
                </a:solidFill>
                <a:latin typeface="Hiragino Sans GB W3"/>
                <a:ea typeface="Hiragino Sans GB W3"/>
                <a:cs typeface="Hiragino Sans GB W3"/>
              </a:rPr>
              <a:t>/7</a:t>
            </a:r>
            <a:endParaRPr lang="en-US" sz="1000">
              <a:solidFill>
                <a:schemeClr val="bg1"/>
              </a:solidFill>
              <a:latin typeface="Hiragino Sans GB W3"/>
              <a:ea typeface="Hiragino Sans GB W3"/>
              <a:cs typeface="Hiragino Sans GB W3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80f00b69c17402c"/>
    <p:sldLayoutId xmlns:r="http://schemas.openxmlformats.org/officeDocument/2006/relationships" id="2147483650" r:id="R60363ed5d9ca44d8"/>
    <p:sldLayoutId xmlns:r="http://schemas.openxmlformats.org/officeDocument/2006/relationships" id="2147483651" r:id="R8a780c3e49864387"/>
    <p:sldLayoutId xmlns:r="http://schemas.openxmlformats.org/officeDocument/2006/relationships" id="2147483652" r:id="Rf88135b0188445f0"/>
    <p:sldLayoutId xmlns:r="http://schemas.openxmlformats.org/officeDocument/2006/relationships" id="2147483653" r:id="R610885928faf4868"/>
    <p:sldLayoutId xmlns:r="http://schemas.openxmlformats.org/officeDocument/2006/relationships" id="2147483654" r:id="Rbb35b66196db4779"/>
    <p:sldLayoutId xmlns:r="http://schemas.openxmlformats.org/officeDocument/2006/relationships" id="2147483655" r:id="R8d7b0be812fa4ed9"/>
    <p:sldLayoutId xmlns:r="http://schemas.openxmlformats.org/officeDocument/2006/relationships" id="2147483656" r:id="Ra208f959023548c8"/>
    <p:sldLayoutId xmlns:r="http://schemas.openxmlformats.org/officeDocument/2006/relationships" id="2147483657" r:id="Rdfc12a1142c74066"/>
    <p:sldLayoutId xmlns:r="http://schemas.openxmlformats.org/officeDocument/2006/relationships" id="2147483658" r:id="R0e661ce0d6af4c7c"/>
    <p:sldLayoutId xmlns:r="http://schemas.openxmlformats.org/officeDocument/2006/relationships" id="2147483659" r:id="R30fc6253c8644c91"/>
  </p:sldLayoutIdLst>
  <p:hf sldNum="0" hdr="0" ftr="0" dt="0"/>
  <p:txStyles>
    <p:titleStyle>
      <a:lvl1pPr xmlns:a="http://schemas.openxmlformats.org/drawingml/2006/main" algn="l" defTabSz="685800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微软雅黑"/>
          <a:ea typeface="微软雅黑"/>
          <a:cs typeface="微软雅黑"/>
        </a:defRPr>
      </a:lvl1pPr>
    </p:titleStyle>
    <p:bodyStyle>
      <a:lvl1pPr xmlns:a="http://schemas.openxmlformats.org/drawingml/2006/main" marL="273050" indent="-273050" algn="l" defTabSz="685800">
        <a:lnSpc>
          <a:spcPct val="90000"/>
        </a:lnSpc>
        <a:spcBef>
          <a:spcPts val="750"/>
        </a:spcBef>
        <a:buClr>
          <a:schemeClr val="accent1"/>
        </a:buClr>
        <a:buFont typeface="Arial"/>
        <a:buChar char="•"/>
        <a:defRPr sz="21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5143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8572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2001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5430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8859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2288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5717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914650" indent="-171450" algn="l" defTabSz="685800">
        <a:lnSpc>
          <a:spcPct val="90000"/>
        </a:lnSpc>
        <a:spcBef>
          <a:spcPts val="375"/>
        </a:spcBef>
        <a:buFont typeface="Arial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3429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6858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0287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3716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7145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0574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4003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7432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主题​​">
  <a:themeElements>
    <a:clrScheme name="自定义 3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C2CAA"/>
      </a:accent1>
      <a:accent2>
        <a:srgbClr val="A94F0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自定义 3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8d6ed90e1a42e2" /><Relationship Type="http://schemas.openxmlformats.org/officeDocument/2006/relationships/image" Target="/ppt/media/image.jpeg" Id="R108a1ce5c40c4c3c" /><Relationship Type="http://schemas.openxmlformats.org/officeDocument/2006/relationships/notesSlide" Target="/ppt/notesSlides/notesSlide1.xml" Id="R268fd1b911da456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b269723e62a46a3" /><Relationship Type="http://schemas.openxmlformats.org/officeDocument/2006/relationships/notesSlide" Target="/ppt/notesSlides/notesSlide2.xml" Id="R83103985f00d402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f2b76c9136a4ddd" /><Relationship Type="http://schemas.openxmlformats.org/officeDocument/2006/relationships/notesSlide" Target="/ppt/notesSlides/notesSlide3.xml" Id="Ra8f8f8b142244fb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b618b7541d64e10" /><Relationship Type="http://schemas.openxmlformats.org/officeDocument/2006/relationships/notesSlide" Target="/ppt/notesSlides/notesSlide4.xml" Id="R01f161f40de2404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5e75629d28c4e09" /><Relationship Type="http://schemas.openxmlformats.org/officeDocument/2006/relationships/notesSlide" Target="/ppt/notesSlides/notesSlide5.xml" Id="R3c772991ea6946d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dea6b4388c14e9e" /><Relationship Type="http://schemas.openxmlformats.org/officeDocument/2006/relationships/notesSlide" Target="/ppt/notesSlides/notesSlide6.xml" Id="Rf1ed9fddc1ce4d3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facebe2dfe44852" /><Relationship Type="http://schemas.openxmlformats.org/officeDocument/2006/relationships/notesSlide" Target="/ppt/notesSlides/notesSlide7.xml" Id="Rb764b9a257704db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8a1ce5c40c4c3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766550" y="4115657"/>
            <a:ext cx="753209" cy="753209"/>
          </a:xfrm>
          <a:prstGeom xmlns:a="http://schemas.openxmlformats.org/drawingml/2006/main" prst="rect">
            <a:avLst/>
          </a:prstGeom>
        </p:spPr>
      </p:pic>
      <p:sp>
        <p:nvSpPr>
          <p:cNvPr id="3" name="副标题 2">
            <a:extLst xmlns:a="http://schemas.openxmlformats.org/drawingml/2006/main">
              <a:ext uri="{FF2B5EF4-FFF2-40B4-BE49-F238E27FC236}">
                <a16:creationId xmlns:a16="http://schemas.microsoft.com/office/drawing/2014/main" id="{0E14118D-5205-4BF9-9012-17EA487A21A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Guangyi Liu | Ph.D. Candidate, Zhejiang University</a:t>
            </a:r>
            <a:endParaRPr/>
          </a:p>
          <a:p xmlns:a="http://schemas.openxmlformats.org/drawingml/2006/main">
            <a:r>
              <a:t>Research Internship / Talent Program Interview | Expected Jun 2028</a:t>
            </a:r>
            <a:endParaRPr/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45EBDD23-CB6E-4072-B990-741E34D2B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8476" y="5181488"/>
            <a:ext cx="967740" cy="30670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endParaRPr sz="1400"/>
          </a:p>
        </p:txBody>
      </p:sp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EDB85ED5-7D9A-4521-B9DC-5827A7B0172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Universal Digital Agents That Learn, Remember, and Act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0124253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E3256677-FEB8-4959-BD9A-74DBCD8225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Candidate Snapshot | Research Focus and Impact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729C5C6C-8DC5-4E5F-9466-6B89910B4CE8}"/>
              </a:ext>
            </a:extLst>
          </p:cNvPr>
          <p:cNvSpPr>
            <a:spLocks xmlns:a="http://schemas.openxmlformats.org/drawingml/2006/main" noGrp="1"/>
          </p:cNvSpPr>
          <p:nvPr>
            <p:ph idx="4294967295"/>
          </p:nvPr>
        </p:nvSpPr>
        <p:spPr>
          <a:xfrm xmlns:a="http://schemas.openxmlformats.org/drawingml/2006/main">
            <a:off x="2152650" y="1205345"/>
            <a:ext cx="7886700" cy="497161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457200" indent="-457200">
              <a:lnSpc>
                <a:spcPct val="150000"/>
              </a:lnSpc>
              <a:buFont typeface="+mj-ea"/>
              <a:buAutoNum type="circleNumDbPlain"/>
            </a:pPr>
            <a:r>
              <a:t>Research focus | Universal digital agents and GUI agents</a:t>
            </a:r>
            <a:endParaRPr/>
          </a:p>
          <a:p xmlns:a="http://schemas.openxmlformats.org/drawingml/2006/main">
            <a:pPr marL="457200" indent="-457200">
              <a:lnSpc>
                <a:spcPct val="150000"/>
              </a:lnSpc>
              <a:buFont typeface="+mj-ea"/>
              <a:buAutoNum type="circleNumDbPlain"/>
            </a:pPr>
            <a:r>
              <a:t>Current role | Ph.D. candidate at ZJU APRIL Lab</a:t>
            </a:r>
            <a:endParaRPr/>
          </a:p>
          <a:p xmlns:a="http://schemas.openxmlformats.org/drawingml/2006/main">
            <a:pPr marL="457200" indent="-457200">
              <a:lnSpc>
                <a:spcPct val="150000"/>
              </a:lnSpc>
              <a:buFont typeface="+mj-ea"/>
              <a:buAutoNum type="circleNumDbPlain"/>
            </a:pPr>
            <a:r>
              <a:t>Research output | 5 first-author works · ACM MM / ACL / TMLR</a:t>
            </a:r>
            <a:endParaRPr/>
          </a:p>
          <a:p xmlns:a="http://schemas.openxmlformats.org/drawingml/2006/main">
            <a:pPr marL="457200" indent="-457200">
              <a:lnSpc>
                <a:spcPct val="150000"/>
              </a:lnSpc>
              <a:buFont typeface="+mj-ea"/>
              <a:buAutoNum type="circleNumDbPlain"/>
            </a:pPr>
            <a:r>
              <a:t>Academic impact | 415 citations · 122 first-author citations</a:t>
            </a:r>
            <a:endParaRPr/>
          </a:p>
          <a:p xmlns:a="http://schemas.openxmlformats.org/drawingml/2006/main">
            <a:pPr marL="457200" indent="-457200">
              <a:lnSpc>
                <a:spcPct val="150000"/>
              </a:lnSpc>
              <a:buFont typeface="+mj-ea"/>
              <a:buAutoNum type="circleNumDbPlain"/>
            </a:pPr>
            <a:r>
              <a:t>Open-source impact | 632 first-author project GitHub stars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80462766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标题 3">
            <a:extLst xmlns:a="http://schemas.openxmlformats.org/drawingml/2006/main">
              <a:ext uri="{FF2B5EF4-FFF2-40B4-BE49-F238E27FC236}">
                <a16:creationId xmlns:a16="http://schemas.microsoft.com/office/drawing/2014/main" id="{DE7E96D9-3C35-484A-8889-3BA3C124FE9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Education and Growth</a:t>
            </a:r>
            <a:endParaRPr/>
          </a:p>
        </p:txBody>
      </p:sp>
      <p:sp>
        <p:nvSpPr>
          <p:cNvPr id="5" name="文本占位符 4">
            <a:extLst xmlns:a="http://schemas.openxmlformats.org/drawingml/2006/main">
              <a:ext uri="{FF2B5EF4-FFF2-40B4-BE49-F238E27FC236}">
                <a16:creationId xmlns:a16="http://schemas.microsoft.com/office/drawing/2014/main" id="{38E40880-B282-4358-8CC5-390037A007E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2019–2023 | CUMT · B.Eng. in Automation | No. 1/203 · National Scholarship ×2</a:t>
            </a:r>
            <a:endParaRPr/>
          </a:p>
          <a:p xmlns:a="http://schemas.openxmlformats.org/drawingml/2006/main">
            <a:r>
              <a:t>2023–2025 | Zhejiang University · M.S. | NeSC Group</a:t>
            </a:r>
            <a:endParaRPr/>
          </a:p>
          <a:p xmlns:a="http://schemas.openxmlformats.org/drawingml/2006/main">
            <a:r>
              <a:t>2025–2028 | Zhejiang University · Ph.D. | APRIL Lab · Expected Jun 2028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64599489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761D0D41-0ECA-4EDE-947C-4AD3F08B37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Industry Research | From Prototypes to Real Systems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E3540825-40A1-4C64-96B1-5EA0001AAF12}"/>
              </a:ext>
            </a:extLst>
          </p:cNvPr>
          <p:cNvSpPr>
            <a:spLocks xmlns:a="http://schemas.openxmlformats.org/drawingml/2006/main" noGrp="1"/>
          </p:cNvSpPr>
          <p:nvPr>
            <p:ph idx="4294967295"/>
          </p:nvPr>
        </p:nvSpPr>
        <p:spPr>
          <a:xfrm xmlns:a="http://schemas.openxmlformats.org/drawingml/2006/main">
            <a:off x="2152650" y="1385889"/>
            <a:ext cx="78867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vivo AI Lab (Aug 2024–Aug 2025) | PhoneGPT, demonstration learning, online evaluation, and memory benchmarking</a:t>
            </a:r>
            <a:endParaRPr/>
          </a:p>
          <a:p xmlns:a="http://schemas.openxmlformats.org/drawingml/2006/main">
            <a:r>
              <a:t>Kuaishou (Aug 2025–Jul 2026) | Agent post-training, long-horizon context management, and app defect detection</a:t>
            </a:r>
            <a:endParaRPr/>
          </a:p>
          <a:p xmlns:a="http://schemas.openxmlformats.org/drawingml/2006/main">
            <a:r>
              <a:t>Research | Formulate questions and validate methods</a:t>
            </a:r>
            <a:endParaRPr/>
          </a:p>
          <a:p xmlns:a="http://schemas.openxmlformats.org/drawingml/2006/main">
            <a:r>
              <a:t>Engineering | Build environments, data pipelines, and automated evaluation</a:t>
            </a:r>
            <a:endParaRPr/>
          </a:p>
          <a:p xmlns:a="http://schemas.openxmlformats.org/drawingml/2006/main">
            <a:pPr lvl="1">
              <a:buNone/>
            </a:pPr>
            <a:r>
              <a:t>Application | Connect agent research to real product workflows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6080426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17318789-E74C-47CD-812B-AFAF672680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Research Thesis | Continuous Improvement in Real Environments</a:t>
            </a:r>
            <a:endParaRPr/>
          </a:p>
        </p:txBody>
      </p:sp>
      <p:sp>
        <p:nvSpPr>
          <p:cNvPr id="4" name="同侧圆角矩形 3">
            <a:extLst xmlns:a="http://schemas.openxmlformats.org/drawingml/2006/main">
              <a:ext uri="{FF2B5EF4-FFF2-40B4-BE49-F238E27FC236}">
                <a16:creationId xmlns:a16="http://schemas.microsoft.com/office/drawing/2014/main" id="{6E93E1A1-58AE-442C-9F27-D92D12686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2088379"/>
            <a:ext cx="7981094" cy="493954"/>
          </a:xfrm>
          <a:prstGeom xmlns:a="http://schemas.openxmlformats.org/drawingml/2006/main" prst="round2SameRect">
            <a:avLst>
              <a:gd name="adj1" fmla="val 30340"/>
              <a:gd name="adj2" fmla="val 0"/>
            </a:avLst>
          </a:prstGeom>
          <a:gradFill xmlns:a="http://schemas.openxmlformats.org/drawingml/2006/main" rotWithShape="1">
            <a:gsLst>
              <a:gs pos="40000">
                <a:schemeClr val="accent2"/>
              </a:gs>
              <a:gs pos="13000">
                <a:schemeClr val="accent2"/>
              </a:gs>
              <a:gs pos="0">
                <a:srgbClr val="F6ECE2"/>
              </a:gs>
            </a:gsLst>
            <a:lin ang="16200000" scaled="0"/>
            <a:tileRect/>
          </a:gra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 b="1"/>
          </a:p>
        </p:txBody>
      </p:sp>
      <p:sp>
        <p:nvSpPr>
          <p:cNvPr id="5" name="文本占位符 8">
            <a:extLst xmlns:a="http://schemas.openxmlformats.org/drawingml/2006/main">
              <a:ext uri="{FF2B5EF4-FFF2-40B4-BE49-F238E27FC236}">
                <a16:creationId xmlns:a16="http://schemas.microsoft.com/office/drawing/2014/main" id="{BB5250EE-EF15-4E95-A850-F0B70F830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3396" y="2158240"/>
            <a:ext cx="4071937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l" defTabSz="685800">
              <a:lnSpc>
                <a:spcPct val="90000"/>
              </a:lnSpc>
              <a:spcBef>
                <a:spcPts val="750"/>
              </a:spcBef>
              <a:buClr>
                <a:schemeClr val="accent1"/>
              </a:buClr>
              <a:buFont typeface="Arial"/>
              <a:buNone/>
              <a:defRPr sz="1800" b="1" kern="1200">
                <a:solidFill>
                  <a:schemeClr val="bg1"/>
                </a:solidFill>
                <a:latin typeface="+mn-lt"/>
                <a:ea typeface="+mn-lt"/>
                <a:cs typeface="+mn-lt"/>
              </a:defRPr>
            </a:lvl1pPr>
            <a:lvl2pPr marL="5143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572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2001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5430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8859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2288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5717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9146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r>
              <a:t>Universal Digital Agents</a:t>
            </a:r>
            <a:endParaRPr/>
          </a:p>
        </p:txBody>
      </p:sp>
      <p:sp>
        <p:nvSpPr>
          <p:cNvPr id="6" name="文本占位符 10">
            <a:extLst xmlns:a="http://schemas.openxmlformats.org/drawingml/2006/main">
              <a:ext uri="{FF2B5EF4-FFF2-40B4-BE49-F238E27FC236}">
                <a16:creationId xmlns:a16="http://schemas.microsoft.com/office/drawing/2014/main" id="{64D84B29-BA3A-4412-B945-211FC2263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2582332"/>
            <a:ext cx="7981094" cy="21157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ECE2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xmlns:a="http://schemas.openxmlformats.org/drawingml/2006/main" tIns="90000">
            <a:noAutofit/>
          </a:bodyPr>
          <a:lstStyle xmlns:a="http://schemas.openxmlformats.org/drawingml/2006/main">
            <a:lvl1pPr marL="273050" indent="-273050" algn="l" defTabSz="685800">
              <a:lnSpc>
                <a:spcPct val="90000"/>
              </a:lnSpc>
              <a:spcBef>
                <a:spcPts val="750"/>
              </a:spcBef>
              <a:buClr>
                <a:schemeClr val="accent1"/>
              </a:buClr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143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572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2001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5430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8859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2288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5717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914650" indent="-171450" algn="l" defTabSz="685800">
              <a:lnSpc>
                <a:spcPct val="90000"/>
              </a:lnSpc>
              <a:spcBef>
                <a:spcPts val="375"/>
              </a:spcBef>
              <a:buFont typeface="Arial"/>
              <a:buChar char="•"/>
              <a:defRPr sz="135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r>
              <a:t>Learn | Demonstrations, feedback, RL, and post-training</a:t>
            </a:r>
            <a:endParaRPr/>
          </a:p>
          <a:p xmlns:a="http://schemas.openxmlformats.org/drawingml/2006/main">
            <a:r>
              <a:t>Remember | Context management, experience reuse, and continual adaptation</a:t>
            </a:r>
            <a:endParaRPr/>
          </a:p>
          <a:p xmlns:a="http://schemas.openxmlformats.org/drawingml/2006/main">
            <a:r>
              <a:t>Evaluate | Online protocols, interpretable metrics, and failure diagnosis</a:t>
            </a:r>
            <a:endParaRPr/>
          </a:p>
          <a:p xmlns:a="http://schemas.openxmlformats.org/drawingml/2006/main">
            <a:r>
              <a:t>Act | Cross-app tool use and long-horizon execution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3940974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70D2437C-CA21-482B-83E9-3B94B06C08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End-to-End Ownership | From Question to System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6B6C9166-BAAF-4BCD-9D6F-CF9069DD2D7F}"/>
              </a:ext>
            </a:extLst>
          </p:cNvPr>
          <p:cNvSpPr>
            <a:spLocks xmlns:a="http://schemas.openxmlformats.org/drawingml/2006/main" noGrp="1"/>
          </p:cNvSpPr>
          <p:nvPr>
            <p:ph idx="4294967295"/>
          </p:nvPr>
        </p:nvSpPr>
        <p:spPr>
          <a:xfrm xmlns:a="http://schemas.openxmlformats.org/drawingml/2006/main">
            <a:off x="2152650" y="1205345"/>
            <a:ext cx="7886700" cy="497161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Environment and data | Exploration, demonstrations, rollouts, feedback, and memory traces</a:t>
            </a:r>
            <a:endParaRPr/>
          </a:p>
          <a:p xmlns:a="http://schemas.openxmlformats.org/drawingml/2006/main">
            <a:r>
              <a:t>Policy | Prompting, SFT, RL, and context-management actions</a:t>
            </a:r>
            <a:endParaRPr/>
          </a:p>
          <a:p xmlns:a="http://schemas.openxmlformats.org/drawingml/2006/main">
            <a:r>
              <a:t>Evaluation | Online success, pass@k, progressive scrutiny, and failure diagnosis</a:t>
            </a:r>
            <a:endParaRPr/>
          </a:p>
          <a:p xmlns:a="http://schemas.openxmlformats.org/drawingml/2006/main">
            <a:r>
              <a:t>System | A reproducible pipeline from exploration to deployment</a:t>
            </a:r>
            <a:endParaRPr/>
          </a:p>
        </p:txBody>
      </p:sp>
      <p:sp>
        <p:nvSpPr>
          <p:cNvPr id="7" name="圆角矩形 6">
            <a:extLst xmlns:a="http://schemas.openxmlformats.org/drawingml/2006/main">
              <a:ext uri="{FF2B5EF4-FFF2-40B4-BE49-F238E27FC236}">
                <a16:creationId xmlns:a16="http://schemas.microsoft.com/office/drawing/2014/main" id="{85DF4892-0D52-4373-B67F-30250EEAF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52650" y="3408685"/>
            <a:ext cx="7890933" cy="56493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6ECE2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文本框 7">
            <a:extLst xmlns:a="http://schemas.openxmlformats.org/drawingml/2006/main">
              <a:ext uri="{FF2B5EF4-FFF2-40B4-BE49-F238E27FC236}">
                <a16:creationId xmlns:a16="http://schemas.microsoft.com/office/drawing/2014/main" id="{1058B1E9-7889-4B06-A922-B7B4A4689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967037" y="3506488"/>
            <a:ext cx="2468880" cy="36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Find the bottleneck → make it measurable → close the loop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97565080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标题 3">
            <a:extLst xmlns:a="http://schemas.openxmlformats.org/drawingml/2006/main">
              <a:ext uri="{FF2B5EF4-FFF2-40B4-BE49-F238E27FC236}">
                <a16:creationId xmlns:a16="http://schemas.microsoft.com/office/drawing/2014/main" id="{07F3092F-8A34-4674-BC65-1CA74F8B79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Five First-Author Works, One Coherent Research Arc</a:t>
            </a:r>
            <a:endParaRPr/>
          </a:p>
        </p:txBody>
      </p:sp>
      <p:sp>
        <p:nvSpPr>
          <p:cNvPr id="5" name="文本占位符 4">
            <a:extLst xmlns:a="http://schemas.openxmlformats.org/drawingml/2006/main">
              <a:ext uri="{FF2B5EF4-FFF2-40B4-BE49-F238E27FC236}">
                <a16:creationId xmlns:a16="http://schemas.microsoft.com/office/drawing/2014/main" id="{7F183622-EE0F-4584-B2C6-2CA80EE058E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Survey → LearnAct → MemGUI-Bench → MobileForge → MemGUI-Agent</a:t>
            </a:r>
            <a:endParaRPr/>
          </a:p>
          <a:p xmlns:a="http://schemas.openxmlformats.org/drawingml/2006/main">
            <a:r>
              <a:t>From field mapping to demonstration learning, memory evaluation, self-improvement, and long-horizon agents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21549497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自定义 3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2C2CAA"/>
      </a:accent1>
      <a:accent2>
        <a:srgbClr val="A94F0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自定义 3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2026-08-09T04:24:50.8460000Z</dcterms:created>
  <dcterms:modified xsi:type="dcterms:W3CDTF">2026-08-09T04:24:50.8460000Z</dcterms:modified>
</coreProperties>
</file>