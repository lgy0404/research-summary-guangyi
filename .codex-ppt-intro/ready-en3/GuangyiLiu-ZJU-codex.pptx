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cff4907524732" /><Relationship Type="http://schemas.openxmlformats.org/officeDocument/2006/relationships/extended-properties" Target="/docProps/app.xml" Id="R870ebee6d81a4cd5" /><Relationship Type="http://schemas.openxmlformats.org/officeDocument/2006/relationships/officeDocument" Target="/ppt/presentation.xml" Id="R07e9c7da60aa4f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87d6e12b64f1f"/>
  </p:sldMasterIdLst>
  <p:notesMasterIdLst>
    <p:notesMasterId xmlns:r="http://schemas.openxmlformats.org/officeDocument/2006/relationships" r:id="Rd5bf5a596b3c487f"/>
  </p:notesMasterIdLst>
  <p:sldIdLst>
    <p:sldId xmlns:r="http://schemas.openxmlformats.org/officeDocument/2006/relationships" id="256" r:id="R9155c7bf6d1642f9"/>
    <p:sldId xmlns:r="http://schemas.openxmlformats.org/officeDocument/2006/relationships" id="257" r:id="R4f707e514c084ff3"/>
    <p:sldId xmlns:r="http://schemas.openxmlformats.org/officeDocument/2006/relationships" id="258" r:id="R918345a9b2934564"/>
    <p:sldId xmlns:r="http://schemas.openxmlformats.org/officeDocument/2006/relationships" id="259" r:id="R561bd9f47eb94951"/>
    <p:sldId xmlns:r="http://schemas.openxmlformats.org/officeDocument/2006/relationships" id="260" r:id="Rc23599f9d9194659"/>
    <p:sldId xmlns:r="http://schemas.openxmlformats.org/officeDocument/2006/relationships" id="261" r:id="Rf39b40d4ab4c494f"/>
    <p:sldId xmlns:r="http://schemas.openxmlformats.org/officeDocument/2006/relationships" id="262" r:id="R725f496bf6f94e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a639aaf2364a3a" /><Relationship Type="http://schemas.openxmlformats.org/officeDocument/2006/relationships/slideMaster" Target="/ppt/slideMasters/slideMaster1.xml" Id="R61e87d6e12b64f1f" /><Relationship Type="http://schemas.openxmlformats.org/officeDocument/2006/relationships/notesMaster" Target="/ppt/notesMasters/notesMaster1.xml" Id="Rd5bf5a596b3c487f" /><Relationship Type="http://schemas.openxmlformats.org/officeDocument/2006/relationships/presProps" Target="/ppt/presProps.xml" Id="Rd63d0dae634741e3" /><Relationship Type="http://schemas.openxmlformats.org/officeDocument/2006/relationships/viewProps" Target="/ppt/viewProps.xml" Id="R421cdee039af465b" /><Relationship Type="http://schemas.openxmlformats.org/officeDocument/2006/relationships/tableStyles" Target="/ppt/tableStyles.xml" Id="Rdf3ffb253ba34f11" /><Relationship Type="http://schemas.openxmlformats.org/officeDocument/2006/relationships/slide" Target="/ppt/slides/slide1.xml" Id="R9155c7bf6d1642f9" /><Relationship Type="http://schemas.openxmlformats.org/officeDocument/2006/relationships/slide" Target="/ppt/slides/slide2.xml" Id="R4f707e514c084ff3" /><Relationship Type="http://schemas.openxmlformats.org/officeDocument/2006/relationships/slide" Target="/ppt/slides/slide3.xml" Id="R918345a9b2934564" /><Relationship Type="http://schemas.openxmlformats.org/officeDocument/2006/relationships/slide" Target="/ppt/slides/slide4.xml" Id="R561bd9f47eb94951" /><Relationship Type="http://schemas.openxmlformats.org/officeDocument/2006/relationships/slide" Target="/ppt/slides/slide5.xml" Id="Rc23599f9d9194659" /><Relationship Type="http://schemas.openxmlformats.org/officeDocument/2006/relationships/slide" Target="/ppt/slides/slide6.xml" Id="Rf39b40d4ab4c494f" /><Relationship Type="http://schemas.openxmlformats.org/officeDocument/2006/relationships/slide" Target="/ppt/slides/slide7.xml" Id="R725f496bf6f94e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80cb82b1e45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4c539e742b43c6" /><Relationship Type="http://schemas.openxmlformats.org/officeDocument/2006/relationships/notesMaster" Target="/ppt/notesMasters/notesMaster1.xml" Id="R77d1ccdde40f47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707c6e377a4bd1" /><Relationship Type="http://schemas.openxmlformats.org/officeDocument/2006/relationships/notesMaster" Target="/ppt/notesMasters/notesMaster1.xml" Id="Rc816574077d14a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5d628da408455a" /><Relationship Type="http://schemas.openxmlformats.org/officeDocument/2006/relationships/notesMaster" Target="/ppt/notesMasters/notesMaster1.xml" Id="Rffade9b8e6a94c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234d247e5540ff" /><Relationship Type="http://schemas.openxmlformats.org/officeDocument/2006/relationships/notesMaster" Target="/ppt/notesMasters/notesMaster1.xml" Id="R865a5e477a6f47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73710456524822" /><Relationship Type="http://schemas.openxmlformats.org/officeDocument/2006/relationships/notesMaster" Target="/ppt/notesMasters/notesMaster1.xml" Id="R851f721a664448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ec76f0317443df" /><Relationship Type="http://schemas.openxmlformats.org/officeDocument/2006/relationships/notesMaster" Target="/ppt/notesMasters/notesMaster1.xml" Id="R5842e1818a46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a0c54bf9a74227" /><Relationship Type="http://schemas.openxmlformats.org/officeDocument/2006/relationships/notesMaster" Target="/ppt/notesMasters/notesMaster1.xml" Id="R7116e061f15d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Open with the long-term research goal: agents that learn, remember, and act reliably in real digital environments.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/Users/liuguangyi05/code/personal-info-guangyi/Guangyi-CV-latex/main.tex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/Users/liuguangyi05/code/personal-info-guangyi/lgy0404.github.io/_pages/about.md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Establish the overall profile in forty seconds: a focused research direction, a coherent body of work, and measurable academic and open-source impact. Metrics updated Aug 9, 2026.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/Users/liuguangyi05/code/personal-info-guangyi/Guangyi-CV-latex/main.tex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/Users/liuguangyi05/code/personal-info-guangyi/lgy0404.github.io/_pages/about.md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the continuous path from automation and control to universal digital agents, supported by the top undergraduate ranking and two National Scholarships.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/Users/liuguangyi05/code/personal-info-guangyi/Guangyi-CV-latex/main.tex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consecutive industry research experiences demonstrate a closed loop across research, engineering, and application rather than paper-only collaboration.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/Users/liuguangyi05/code/personal-info-guangyi/Guangyi-CV-latex/main.tex</a:t>
            </a:r>
            <a:endParaRPr/>
          </a:p>
          <a:p xmlns:a="http://schemas.openxmlformats.org/drawingml/2006/main">
            <a:r>
              <a:t>- /Users/liuguangyi05/code/personal-info-guangyi/lgy0404.github.io/_pages/about.md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Mobile GUIs are the current proving ground because they combine dynamic interfaces, sparse feedback, hidden state, long-tail workflows, and deployment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/Users/liuguangyi05/code/personal-info-guangyi/Guangyi-CV-latex/main.tex</a:t>
            </a:r>
          </a:p>
          <a:p xmlns:a="http://schemas.openxmlformats.org/drawingml/2006/main">
            <a:r>
              <a:t>- /Users/liuguangyi05/code/personal-info-guangyi/research-summary-guangyi/interview-slides/slidev/slides.md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ownership of the full research loop: not only algorithms, but also environments, data, evaluation, and reproducible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/Users/liuguangyi05/code/personal-info-guangyi/research-summary-guangyi/interview-slides/slidev/slides.md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transition from the candidate overview to the paper-by-paper discussion that follows the same research arc.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/Users/liuguangyi05/code/personal-info-guangyi/Guangyi-CV-latex/main.tex</a:t>
            </a:r>
            <a:endParaRPr/>
          </a:p>
          <a:p xmlns:a="http://schemas.openxmlformats.org/drawingml/2006/main">
            <a:r>
              <a:t>- /Users/liuguangyi05/code/personal-info-guangyi/lgy0404.github.io/_pages/about.md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0d51652dd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c0b247b534c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2abec357c46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67bc137fd4f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6beb5e32243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c6a1c225144f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aa80de47f4eb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eade363714d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54fc05b344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4248bb38342a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ed12352364de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1124A65-4EE3-4812-B23D-FC4417E0D3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485899" y="2983971"/>
            <a:ext cx="9144000" cy="111389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rPr sz="1800">
                <a:latin typeface="Adobe Heiti Std R"/>
                <a:ea typeface="Adobe Heiti Std R"/>
                <a:cs typeface="Adobe Heiti Std R"/>
              </a:rPr>
              <a:t>单击此处编辑母版作者信息样式</a:t>
            </a:r>
            <a:endParaRPr sz="1800">
              <a:latin typeface="Adobe Heiti Std R"/>
              <a:ea typeface="Adobe Heiti Std R"/>
              <a:cs typeface="Adobe Heiti Std R"/>
            </a:endParaRPr>
          </a:p>
          <a:p xmlns:a="http://schemas.openxmlformats.org/drawingml/2006/main">
            <a:endParaRPr sz="1800">
              <a:latin typeface="Adobe Heiti Std R"/>
              <a:ea typeface="Adobe Heiti Std R"/>
              <a:cs typeface="Adobe Heiti Std R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39F57D5-444E-4E01-AF9B-DC959B6A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96" y="1402663"/>
            <a:ext cx="10521244" cy="105833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38AC"/>
          </a:solidFill>
          <a:effectLst xmlns:a="http://schemas.openxmlformats.org/drawingml/2006/main"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103347-BDD5-4725-82C1-7EFD8D665F6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579813"/>
            <a:ext cx="9144000" cy="84837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9D9C755-F151-4ADB-AF24-DEA444E8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560" y="7075805"/>
            <a:ext cx="4064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7474538-189E-40D5-BD46-20DE8A3B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39EB85C-C704-4315-B696-E933BCA12C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6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F3455FD-6943-4962-A81B-21798E75454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205345"/>
            <a:ext cx="10515600" cy="4971618"/>
          </a:xfrm>
        </p:spPr>
        <p:txBody>
          <a:bodyPr xmlns:a="http://schemas.openxmlformats.org/drawingml/2006/main"/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383F89-F5A4-492E-AD13-31375282A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39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B6253F3-0A3E-4FAF-8F0E-CDE9663D840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1851" y="4589464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A2DFE7C-8B92-46FD-AA30-76820000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C9DF2FF-DD51-4609-991D-C01D2C8ABA0D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126067"/>
            <a:ext cx="5181600" cy="5050896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pPr marL="273050" lvl="0" indent="-273050">
              <a:buNone/>
            </a:pPr>
            <a:r>
              <a:t>编辑母版文本样式
第二级
第三级
第四级
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5C465CC-B734-46E1-965D-88998823A0E7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172200" y="1126067"/>
            <a:ext cx="5181600" cy="5050896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pPr marL="273050" lvl="0" indent="-273050">
              <a:buNone/>
            </a:pPr>
            <a:r>
              <a:t>编辑母版文本样式
第二级
第三级
第四级
第五级</a:t>
            </a:r>
            <a:endParaRPr/>
          </a:p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F7B543D4-C93A-49A2-84CA-007777C495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A5EF846-8830-4E5D-87AF-C1C46717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46C92DE-E194-468D-8C4C-72396E340D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ADB9EC9-ED10-4F96-82A1-356DE5A8959B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839789" y="2505075"/>
            <a:ext cx="5157787" cy="3684588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pPr marL="273050" lvl="0" indent="-273050">
              <a:buNone/>
            </a:pPr>
            <a:r>
              <a:t>编辑母版文本样式
第二级
第三级
第四级
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5DF1D71-BBD7-49DC-9E27-D1642A689FF6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EEF9ACB-487D-40B7-AD57-BC537C8F4581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pPr marL="273050" lvl="0" indent="-273050">
              <a:buNone/>
            </a:pPr>
            <a:r>
              <a:t>编辑母版文本样式
第二级
第三级
第四级
第五级</a:t>
            </a:r>
            <a:endParaRPr/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FF9C06D8-BB24-4A48-B748-FA9FED41BB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36A93AE-A1F0-4114-8FC1-0920B0DA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0D24BDAB-EDDE-4A48-81A7-03AD669BD7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B1B4819-4703-401D-A5ED-A973D9BAA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3ABD3C5-C7AB-487D-85D4-55C745849C2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F5E848-FA3F-409D-8F7D-8432E8479922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201E2A7-990A-4982-A67E-AFAA43F48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9A2B281-B22E-4B49-AB91-D5615B5132D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3B4C585-2D8B-4418-92B1-EC7628F73D4B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47885AE-FE20-4E40-B1E7-F9033D00544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8200" y="1193800"/>
            <a:ext cx="10515600" cy="4983163"/>
          </a:xfrm>
        </p:spPr>
        <p:txBody>
          <a:bodyPr xmlns:a="http://schemas.openxmlformats.org/drawingml/2006/main" vert="eaVert"/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6948F5F-C6B5-44FA-A3F8-536D45F3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A0679DCF-14ED-4395-93DC-3E3644C59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E10501D-58E1-4C51-B463-647170DE0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107CAC4-A508-49D0-B13D-8F123BBEA2EA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ef418de24c4a11" /><Relationship Type="http://schemas.openxmlformats.org/officeDocument/2006/relationships/slideLayout" Target="/ppt/slideLayouts/slideLayout1.xml" Id="Rf8f2cc32b8b54065" /><Relationship Type="http://schemas.openxmlformats.org/officeDocument/2006/relationships/slideLayout" Target="/ppt/slideLayouts/slideLayout2.xml" Id="R108b1aabe7194cd0" /><Relationship Type="http://schemas.openxmlformats.org/officeDocument/2006/relationships/slideLayout" Target="/ppt/slideLayouts/slideLayout3.xml" Id="R2e2c7ca45c21473a" /><Relationship Type="http://schemas.openxmlformats.org/officeDocument/2006/relationships/slideLayout" Target="/ppt/slideLayouts/slideLayout4.xml" Id="R7b53242356164604" /><Relationship Type="http://schemas.openxmlformats.org/officeDocument/2006/relationships/slideLayout" Target="/ppt/slideLayouts/slideLayout5.xml" Id="R3ee907c840bc447b" /><Relationship Type="http://schemas.openxmlformats.org/officeDocument/2006/relationships/slideLayout" Target="/ppt/slideLayouts/slideLayout6.xml" Id="R7b900dd877654df0" /><Relationship Type="http://schemas.openxmlformats.org/officeDocument/2006/relationships/slideLayout" Target="/ppt/slideLayouts/slideLayout7.xml" Id="Ra88961a97981464d" /><Relationship Type="http://schemas.openxmlformats.org/officeDocument/2006/relationships/slideLayout" Target="/ppt/slideLayouts/slideLayout8.xml" Id="Re166dc7f91d84383" /><Relationship Type="http://schemas.openxmlformats.org/officeDocument/2006/relationships/slideLayout" Target="/ppt/slideLayouts/slideLayout9.xml" Id="R9cc9a6a393d54730" /><Relationship Type="http://schemas.openxmlformats.org/officeDocument/2006/relationships/slideLayout" Target="/ppt/slideLayouts/slideLayout10.xml" Id="R55ae3a324f374a32" /><Relationship Type="http://schemas.openxmlformats.org/officeDocument/2006/relationships/slideLayout" Target="/ppt/slideLayouts/slideLayout11.xml" Id="Rc11a66e727b347b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A6092FD-B0EB-4DBC-A63C-2DA7ABA6C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E94FEC3-86C9-4A6E-835B-11FC6A44A9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7882A93-9108-4585-B43F-1A84C4AD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7866"/>
            <a:ext cx="4080000" cy="2201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5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/>
              <a:t>Guangyi </a:t>
            </a:r>
            <a:r>
              <a:rPr sz="1200"/>
              <a:t>Liu</a:t>
            </a:r>
            <a:endParaRPr sz="1200"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D089757-DA32-44D8-8C9A-41FA463C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000" y="6637867"/>
            <a:ext cx="4080000" cy="2201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8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latin typeface="Arial"/>
                <a:ea typeface="Arial"/>
                <a:cs typeface="Arial"/>
              </a:defRPr>
            </a:pPr>
            <a:r>
              <a:rPr sz="900">
                <a:latin typeface="Arial"/>
                <a:ea typeface="Arial"/>
                <a:cs typeface="Arial"/>
              </a:rPr>
              <a:t>Universal Digital Agents</a:t>
            </a:r>
            <a:endParaRPr sz="1200"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840013D-3DBD-4C28-97B2-08FF0B0C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000" y="6637866"/>
            <a:ext cx="4080000" cy="2201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8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/>
          </a:p>
        </p:txBody>
      </p:sp>
      <p:sp>
        <p:nvSpPr>
          <p:cNvPr id="9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534167-96AD-49C2-8E3D-CB620676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773" y="6637866"/>
            <a:ext cx="1362187" cy="2201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l" defTabSz="457200">
              <a:buNone/>
              <a:defRPr sz="9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000">
              <a:latin typeface="Hiragino Sans GB W3"/>
              <a:ea typeface="Hiragino Sans GB W3"/>
              <a:cs typeface="Hiragino Sans GB W3"/>
            </a:endParaRPr>
          </a:p>
        </p:txBody>
      </p:sp>
      <p:sp>
        <p:nvSpPr>
          <p:cNvPr id="10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12D8CC-E906-4231-B15E-D486B5CF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637865"/>
            <a:ext cx="728507" cy="220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l" defTabSz="457200">
              <a:buNone/>
              <a:defRPr sz="9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fld id="{4F42B4B9-4F4F-DC40-8BF5-0036F3636617}" type="slidenum">
              <a:rPr lang="en-US" sz="1000">
                <a:solidFill>
                  <a:schemeClr val="bg1"/>
                </a:solidFill>
                <a:latin typeface="Arial"/>
                <a:ea typeface="Arial"/>
                <a:cs typeface="Arial"/>
              </a:rPr>
            </a:fld>
            <a:r>
              <a:rPr lang="en-US"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/7</a:t>
            </a:r>
            <a:endParaRPr lang="en-US" sz="100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7a22c3b97f43ab"/>
    <p:sldLayoutId xmlns:r="http://schemas.openxmlformats.org/officeDocument/2006/relationships" id="2147483650" r:id="R9bb126372def45af"/>
    <p:sldLayoutId xmlns:r="http://schemas.openxmlformats.org/officeDocument/2006/relationships" id="2147483651" r:id="R48e469b53e154e9d"/>
    <p:sldLayoutId xmlns:r="http://schemas.openxmlformats.org/officeDocument/2006/relationships" id="2147483652" r:id="Re7598bf22fb34ca8"/>
    <p:sldLayoutId xmlns:r="http://schemas.openxmlformats.org/officeDocument/2006/relationships" id="2147483653" r:id="Rc404e775ca354836"/>
    <p:sldLayoutId xmlns:r="http://schemas.openxmlformats.org/officeDocument/2006/relationships" id="2147483654" r:id="R2e416a75da0f4f42"/>
    <p:sldLayoutId xmlns:r="http://schemas.openxmlformats.org/officeDocument/2006/relationships" id="2147483655" r:id="R1d11f48a14c242d7"/>
    <p:sldLayoutId xmlns:r="http://schemas.openxmlformats.org/officeDocument/2006/relationships" id="2147483656" r:id="R8bfbaa5e25504669"/>
    <p:sldLayoutId xmlns:r="http://schemas.openxmlformats.org/officeDocument/2006/relationships" id="2147483657" r:id="Rbd4ea277a4ad408d"/>
    <p:sldLayoutId xmlns:r="http://schemas.openxmlformats.org/officeDocument/2006/relationships" id="2147483658" r:id="Rddc43a2cceca4b78"/>
    <p:sldLayoutId xmlns:r="http://schemas.openxmlformats.org/officeDocument/2006/relationships" id="2147483659" r:id="R144d47e0d48b433a"/>
  </p:sldLayoutIdLst>
  <p:hf sldNum="0" hdr="0" ft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73050" indent="-273050" algn="l" defTabSz="685800">
        <a:lnSpc>
          <a:spcPct val="90000"/>
        </a:lnSpc>
        <a:spcBef>
          <a:spcPts val="750"/>
        </a:spcBef>
        <a:buClr>
          <a:schemeClr val="accent1"/>
        </a:buClr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c83c5b3014688" /><Relationship Type="http://schemas.openxmlformats.org/officeDocument/2006/relationships/image" Target="/ppt/media/image.jpeg" Id="Rc361d03e92664d48" /><Relationship Type="http://schemas.openxmlformats.org/officeDocument/2006/relationships/notesSlide" Target="/ppt/notesSlides/notesSlide1.xml" Id="Rfea2265fcd84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9965eed9394830" /><Relationship Type="http://schemas.openxmlformats.org/officeDocument/2006/relationships/notesSlide" Target="/ppt/notesSlides/notesSlide2.xml" Id="Rd3c9c5db0e9345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1b15c3e7a54a3f" /><Relationship Type="http://schemas.openxmlformats.org/officeDocument/2006/relationships/notesSlide" Target="/ppt/notesSlides/notesSlide3.xml" Id="Rbb358e81bdbc45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8aef2c64345ab" /><Relationship Type="http://schemas.openxmlformats.org/officeDocument/2006/relationships/notesSlide" Target="/ppt/notesSlides/notesSlide4.xml" Id="Ra87c35727f5c47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cd3ecd1d8546aa" /><Relationship Type="http://schemas.openxmlformats.org/officeDocument/2006/relationships/notesSlide" Target="/ppt/notesSlides/notesSlide5.xml" Id="R3c1ca42acb6f45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39a27af54e4681" /><Relationship Type="http://schemas.openxmlformats.org/officeDocument/2006/relationships/notesSlide" Target="/ppt/notesSlides/notesSlide6.xml" Id="Rffa9a158ae6341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e1684e1ceb4857" /><Relationship Type="http://schemas.openxmlformats.org/officeDocument/2006/relationships/notesSlide" Target="/ppt/notesSlides/notesSlide7.xml" Id="R6f1ba82b6e1146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1d03e92664d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6550" y="4115657"/>
            <a:ext cx="753209" cy="753209"/>
          </a:xfrm>
          <a:prstGeom xmlns:a="http://schemas.openxmlformats.org/drawingml/2006/main" prst="rect">
            <a:avLst/>
          </a:prstGeom>
        </p:spPr>
      </p:pic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46464BE-8059-41E1-9736-480A89C904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latin typeface="Arial"/>
                <a:ea typeface="Arial"/>
                <a:cs typeface="Arial"/>
              </a:defRPr>
            </a:pPr>
            <a:r>
              <a:rPr sz="1500">
                <a:latin typeface="Arial"/>
                <a:ea typeface="Arial"/>
                <a:cs typeface="Arial"/>
              </a:rPr>
              <a:t>Guangyi Liu | Ph.D. Candidate, Zhejiang University</a:t>
            </a:r>
            <a:endParaRPr/>
          </a:p>
          <a:p xmlns:a="http://schemas.openxmlformats.org/drawingml/2006/main">
            <a:pPr>
              <a:defRPr sz="1500">
                <a:latin typeface="Arial"/>
                <a:ea typeface="Arial"/>
                <a:cs typeface="Arial"/>
              </a:defRPr>
            </a:pPr>
            <a:r>
              <a:rPr sz="1500">
                <a:latin typeface="Arial"/>
                <a:ea typeface="Arial"/>
                <a:cs typeface="Arial"/>
              </a:rPr>
              <a:t>Research Internship / Talent Program Interview | Expected Jun 2028</a:t>
            </a: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63D92FC-3DA2-4B5D-A3E8-BC1AA17F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476" y="5181488"/>
            <a:ext cx="96774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 sz="1400"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738B32-AA10-4AFC-A15B-EFF3B883E64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latin typeface="Arial"/>
                <a:ea typeface="Arial"/>
                <a:cs typeface="Arial"/>
              </a:defRPr>
            </a:pPr>
            <a:r>
              <a:rPr sz="2550">
                <a:latin typeface="Arial"/>
                <a:ea typeface="Arial"/>
                <a:cs typeface="Arial"/>
              </a:rPr>
              <a:t>Universal Digital Agents That Learn, Remember, and Act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53311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CF34CF1-C244-4CD7-A4BD-B1F20F97F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latin typeface="Arial"/>
                <a:ea typeface="Arial"/>
                <a:cs typeface="Arial"/>
              </a:defRPr>
            </a:pPr>
            <a:r>
              <a:rPr sz="2250">
                <a:latin typeface="Arial"/>
                <a:ea typeface="Arial"/>
                <a:cs typeface="Arial"/>
              </a:rPr>
              <a:t>Candidate Snapshot | Research Focus and Impact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A6E516D-C985-4D27-BE40-1FF40AC198A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52650" y="1205345"/>
            <a:ext cx="7886700" cy="49716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Research focus | Universal digital agents and GUI agents</a:t>
            </a:r>
            <a:endParaRPr/>
          </a:p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Current role | Ph.D. candidate at ZJU APRIL Lab</a:t>
            </a:r>
            <a:endParaRPr/>
          </a:p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Research output | 5 first-author works · ACM MM / ACL / TMLR</a:t>
            </a:r>
            <a:endParaRPr/>
          </a:p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Academic impact | 415 citations · 122 first-author citations</a:t>
            </a:r>
            <a:endParaRPr/>
          </a:p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Open-source impact | 632 first-author project GitHub stars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1151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E68BDD72-43F3-4C84-9AC9-CA53A835D4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>
                <a:latin typeface="Arial"/>
                <a:ea typeface="Arial"/>
                <a:cs typeface="Arial"/>
              </a:defRPr>
            </a:pPr>
            <a:r>
              <a:rPr sz="3300">
                <a:latin typeface="Arial"/>
                <a:ea typeface="Arial"/>
                <a:cs typeface="Arial"/>
              </a:rPr>
              <a:t>Education and Growth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674D4B7-A9FB-431E-9950-91DAF85A4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2019–2023 | CUMT · B.Eng. in Automation | No. 1/203 · National Scholarship ×2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2023–2025 | Zhejiang University · M.S. | NeSC Group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2025–2028 | Zhejiang University · Ph.D. | APRIL Lab · Expected Jun 2028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012667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ABFEE7E-DFA3-4E8C-8CFC-228154F2D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latin typeface="Arial"/>
                <a:ea typeface="Arial"/>
                <a:cs typeface="Arial"/>
              </a:defRPr>
            </a:pPr>
            <a:r>
              <a:rPr sz="2250">
                <a:latin typeface="Arial"/>
                <a:ea typeface="Arial"/>
                <a:cs typeface="Arial"/>
              </a:rPr>
              <a:t>Industry Research | From Prototypes to Real Systems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B6AC036-0E00-43B3-939A-87186D9D331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52650" y="1385889"/>
            <a:ext cx="78867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vivo AI Lab (Aug 2024–Aug 2025) | PhoneGPT, demonstration learning, online evaluation, and memory benchmarking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Kuaishou (Aug 2025–Jul 2026) | Agent post-training, long-horizon context management, and app defect detection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Research | Formulate questions and validate methods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Engineering | Build environments, data pipelines, and automated evaluation</a:t>
            </a:r>
            <a:endParaRPr/>
          </a:p>
          <a:p xmlns:a="http://schemas.openxmlformats.org/drawingml/2006/main">
            <a:pPr lvl="1">
              <a:buNone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Application | Connect agent research to real product workflows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10810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38B0AD-79BF-474D-8F13-4E1DB5D38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Research Thesis | Continuous Improvement in Real Environments</a:t>
            </a:r>
            <a:endParaRPr/>
          </a:p>
        </p:txBody>
      </p:sp>
      <p:sp>
        <p:nvSpPr>
          <p:cNvPr id="4" name="同侧圆角矩形 3">
            <a:extLst xmlns:a="http://schemas.openxmlformats.org/drawingml/2006/main">
              <a:ext uri="{FF2B5EF4-FFF2-40B4-BE49-F238E27FC236}">
                <a16:creationId xmlns:a16="http://schemas.microsoft.com/office/drawing/2014/main" id="{06E0ADF0-CDB9-4EAA-A00C-F3ABEB74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88379"/>
            <a:ext cx="7981094" cy="493954"/>
          </a:xfrm>
          <a:prstGeom xmlns:a="http://schemas.openxmlformats.org/drawingml/2006/main" prst="round2SameRect">
            <a:avLst>
              <a:gd name="adj1" fmla="val 30340"/>
              <a:gd name="adj2" fmla="val 0"/>
            </a:avLst>
          </a:prstGeom>
          <a:gradFill xmlns:a="http://schemas.openxmlformats.org/drawingml/2006/main" rotWithShape="1">
            <a:gsLst>
              <a:gs pos="40000">
                <a:schemeClr val="accent2"/>
              </a:gs>
              <a:gs pos="13000">
                <a:schemeClr val="accent2"/>
              </a:gs>
              <a:gs pos="0">
                <a:srgbClr val="F6ECE2"/>
              </a:gs>
            </a:gsLst>
            <a:lin ang="16200000" scaled="0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1"/>
          </a:p>
        </p:txBody>
      </p:sp>
      <p:sp>
        <p:nvSpPr>
          <p:cNvPr id="5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9C7F47-BEA0-4700-9FA5-D76E708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396" y="2158240"/>
            <a:ext cx="4071937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/>
              <a:buNone/>
              <a:defRPr sz="1800" b="1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500">
                <a:latin typeface="Arial"/>
                <a:ea typeface="Arial"/>
                <a:cs typeface="Arial"/>
              </a:defRPr>
            </a:pPr>
            <a:r>
              <a:rPr sz="1500">
                <a:latin typeface="Arial"/>
                <a:ea typeface="Arial"/>
                <a:cs typeface="Arial"/>
              </a:rPr>
              <a:t>Universal Digital Agents</a:t>
            </a:r>
            <a:endParaRPr/>
          </a:p>
        </p:txBody>
      </p:sp>
      <p:sp>
        <p:nvSpPr>
          <p:cNvPr id="6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3EB9B41D-A5B2-4E6A-B1DC-ABC5F82C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82332"/>
            <a:ext cx="7981094" cy="2115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tIns="90000">
            <a:noAutofit/>
          </a:bodyPr>
          <a:lstStyle xmlns:a="http://schemas.openxmlformats.org/drawingml/2006/main">
            <a:lvl1pPr marL="273050" indent="-273050" algn="l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Learn | Demonstrations, feedback, RL, and post-training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Remember | Context management, experience reuse, and continual adaptation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Evaluate | Online protocols, interpretable metrics, and failure diagnosis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Act | Cross-app tool use and long-horizon execution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75580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826730-FEAB-4C76-A0D9-079D43FB0B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latin typeface="Arial"/>
                <a:ea typeface="Arial"/>
                <a:cs typeface="Arial"/>
              </a:defRPr>
            </a:pPr>
            <a:r>
              <a:rPr sz="2250">
                <a:latin typeface="Arial"/>
                <a:ea typeface="Arial"/>
                <a:cs typeface="Arial"/>
              </a:rPr>
              <a:t>End-to-End Ownership | From Question to System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4AA7860-D38A-450D-A897-942C4F9426A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52650" y="1205345"/>
            <a:ext cx="7886700" cy="49716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Environment | Demonstrations, rollouts, and feedback</a:t>
            </a:r>
            <a:endParaRPr/>
          </a:p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Policy | Prompting, SFT, RL, and context actions</a:t>
            </a:r>
            <a:endParaRPr/>
          </a:p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Evaluation | Online success, pass@k, and diagnosis</a:t>
            </a:r>
            <a:endParaRPr/>
          </a:p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System | Reproducible exploration-to-deployment pipeline</a:t>
            </a:r>
            <a:endParaRPr/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3CA3628-5764-4E82-A3FC-ADECEFD1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2650" y="3408685"/>
            <a:ext cx="7890933" cy="56493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ECE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5A69B2B-28CA-4B01-AED1-111511DD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7037" y="3506488"/>
            <a:ext cx="246888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Identify | Measure | Close the Loop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93518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12E1B066-F500-4490-9E19-DC00C16CC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>
                <a:latin typeface="Arial"/>
                <a:ea typeface="Arial"/>
                <a:cs typeface="Arial"/>
              </a:defRPr>
            </a:pPr>
            <a:r>
              <a:rPr sz="3300">
                <a:latin typeface="Arial"/>
                <a:ea typeface="Arial"/>
                <a:cs typeface="Arial"/>
              </a:rPr>
              <a:t>Five First-Author Works, One Coherent Research Arc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5EF7C36-3DB4-41AC-87B4-7472779731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Survey → LearnAct → MemGUI-Bench → MobileForge → MemGUI-Agent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From field mapping to demonstration learning, memory evaluation, self-improvement, and long-horizon agents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487353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2026-08-09T04:29:44.6590000Z</dcterms:created>
  <dcterms:modified xsi:type="dcterms:W3CDTF">2026-08-09T04:29:44.6590000Z</dcterms:modified>
</coreProperties>
</file>