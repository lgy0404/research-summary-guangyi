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c7a2f07c844ec7" /><Relationship Type="http://schemas.openxmlformats.org/officeDocument/2006/relationships/extended-properties" Target="/docProps/app.xml" Id="R83e5b22bb6ce4c1d" /><Relationship Type="http://schemas.openxmlformats.org/officeDocument/2006/relationships/officeDocument" Target="/ppt/presentation.xml" Id="Rdafc6bfafe1240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63bd96e3ad4234"/>
  </p:sldMasterIdLst>
  <p:notesMasterIdLst>
    <p:notesMasterId xmlns:r="http://schemas.openxmlformats.org/officeDocument/2006/relationships" r:id="R0b604ab8e06b43db"/>
  </p:notesMasterIdLst>
  <p:sldIdLst>
    <p:sldId xmlns:r="http://schemas.openxmlformats.org/officeDocument/2006/relationships" id="256" r:id="Rff47f145934c4464"/>
    <p:sldId xmlns:r="http://schemas.openxmlformats.org/officeDocument/2006/relationships" id="257" r:id="R72a2ba047438411f"/>
    <p:sldId xmlns:r="http://schemas.openxmlformats.org/officeDocument/2006/relationships" id="258" r:id="Rd67c9708782249d1"/>
    <p:sldId xmlns:r="http://schemas.openxmlformats.org/officeDocument/2006/relationships" id="259" r:id="Rb6a78d8081a942a3"/>
    <p:sldId xmlns:r="http://schemas.openxmlformats.org/officeDocument/2006/relationships" id="260" r:id="Rb2b335f04acb4049"/>
    <p:sldId xmlns:r="http://schemas.openxmlformats.org/officeDocument/2006/relationships" id="261" r:id="R15ad0afac8a64818"/>
    <p:sldId xmlns:r="http://schemas.openxmlformats.org/officeDocument/2006/relationships" id="262" r:id="R323c8b97ad164f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948d6166634ce3" /><Relationship Type="http://schemas.openxmlformats.org/officeDocument/2006/relationships/slideMaster" Target="/ppt/slideMasters/slideMaster1.xml" Id="R8063bd96e3ad4234" /><Relationship Type="http://schemas.openxmlformats.org/officeDocument/2006/relationships/notesMaster" Target="/ppt/notesMasters/notesMaster1.xml" Id="R0b604ab8e06b43db" /><Relationship Type="http://schemas.openxmlformats.org/officeDocument/2006/relationships/presProps" Target="/ppt/presProps.xml" Id="R3d1e8689171d416f" /><Relationship Type="http://schemas.openxmlformats.org/officeDocument/2006/relationships/viewProps" Target="/ppt/viewProps.xml" Id="R1ad050f80826442f" /><Relationship Type="http://schemas.openxmlformats.org/officeDocument/2006/relationships/tableStyles" Target="/ppt/tableStyles.xml" Id="R4d49e7e8ae5c4654" /><Relationship Type="http://schemas.openxmlformats.org/officeDocument/2006/relationships/slide" Target="/ppt/slides/slide1.xml" Id="Rff47f145934c4464" /><Relationship Type="http://schemas.openxmlformats.org/officeDocument/2006/relationships/slide" Target="/ppt/slides/slide2.xml" Id="R72a2ba047438411f" /><Relationship Type="http://schemas.openxmlformats.org/officeDocument/2006/relationships/slide" Target="/ppt/slides/slide3.xml" Id="Rd67c9708782249d1" /><Relationship Type="http://schemas.openxmlformats.org/officeDocument/2006/relationships/slide" Target="/ppt/slides/slide4.xml" Id="Rb6a78d8081a942a3" /><Relationship Type="http://schemas.openxmlformats.org/officeDocument/2006/relationships/slide" Target="/ppt/slides/slide5.xml" Id="Rb2b335f04acb4049" /><Relationship Type="http://schemas.openxmlformats.org/officeDocument/2006/relationships/slide" Target="/ppt/slides/slide6.xml" Id="R15ad0afac8a64818" /><Relationship Type="http://schemas.openxmlformats.org/officeDocument/2006/relationships/slide" Target="/ppt/slides/slide7.xml" Id="R323c8b97ad164f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23c438feb44c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b4492004bf4755" /><Relationship Type="http://schemas.openxmlformats.org/officeDocument/2006/relationships/notesMaster" Target="/ppt/notesMasters/notesMaster1.xml" Id="Rc9c39988330c4e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3f02406d81420f" /><Relationship Type="http://schemas.openxmlformats.org/officeDocument/2006/relationships/notesMaster" Target="/ppt/notesMasters/notesMaster1.xml" Id="R86de62f254994e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827622388646f3" /><Relationship Type="http://schemas.openxmlformats.org/officeDocument/2006/relationships/notesMaster" Target="/ppt/notesMasters/notesMaster1.xml" Id="Rd8f725961eba45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50ae2c7032459e" /><Relationship Type="http://schemas.openxmlformats.org/officeDocument/2006/relationships/notesMaster" Target="/ppt/notesMasters/notesMaster1.xml" Id="R7d1f22a97feb43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bc06497fc740ea" /><Relationship Type="http://schemas.openxmlformats.org/officeDocument/2006/relationships/notesMaster" Target="/ppt/notesMasters/notesMaster1.xml" Id="R631b2ef19a1b48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ddc5013e894158" /><Relationship Type="http://schemas.openxmlformats.org/officeDocument/2006/relationships/notesMaster" Target="/ppt/notesMasters/notesMaster1.xml" Id="R3c65f5c64fea4d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0b2867c55e41af" /><Relationship Type="http://schemas.openxmlformats.org/officeDocument/2006/relationships/notesMaster" Target="/ppt/notesMasters/notesMaster1.xml" Id="R44634b2d49da40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Open with the long-term research goal: agents that learn, remember, and act reliably in real digital environments.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/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/Users/liuguangyi05/code/personal-info-guangyi/Guangyi-CV-latex/main.tex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Establish the overall profile in forty seconds: a focused research direction, a coherent body of work, and measurable academic and open-source impact. Metrics updated Aug 9, 2026.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/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/Users/liuguangyi05/code/personal-info-guangyi/Guangyi-CV-latex/main.tex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the continuous path from automation and control to universal digital agents, supported by the top undergraduate ranking and two National Scholarships.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two consecutive industry research experiences demonstrate a closed loop across research, engineering, and application rather than paper-only collaboration.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  <a:p xmlns:a="http://schemas.openxmlformats.org/drawingml/2006/main"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Mobile GUIs are the current proving ground because they combine dynamic interfaces, sparse feedback, hidden state, long-tail workflows, and deployment constraints.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/Users/liuguangyi05/code/personal-info-guangyi/Guangyi-CV-latex/main.tex</a:t>
            </a:r>
          </a:p>
          <a:p xmlns:a="http://schemas.openxmlformats.org/drawingml/2006/main">
            <a:r>
              <a:t>- /Users/liuguangyi05/code/personal-info-guangyi/research-summary-guangyi/interview-slides/slidev/slides.md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ownership of the full research loop: not only algorithms, but also environments, data, evaluation, and reproducible systems.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/Users/liuguangyi05/code/personal-info-guangyi/research-summary-guangyi/interview-slides/slidev/slides.md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transition from the candidate overview to the paper-by-paper discussion that follows the same research arc.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  <a:p xmlns:a="http://schemas.openxmlformats.org/drawingml/2006/main"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16eaf6a3c34a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0878c3cd047b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5c9610113645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7557c544de4ce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7d5b53d784424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b0703e536249b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7ecf397a0e466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e005a182414bf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c9377331464ac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b6d437b2c049e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962ee62fee4ce0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BDC56902-F830-4C24-826F-5FA971DA1BBA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485899" y="2983971"/>
            <a:ext cx="9144000" cy="1113896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ctr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rPr sz="1800">
                <a:latin typeface="Adobe Heiti Std R"/>
                <a:ea typeface="Adobe Heiti Std R"/>
                <a:cs typeface="Adobe Heiti Std R"/>
              </a:rPr>
              <a:t>单击此处编辑母版作者信息样式</a:t>
            </a:r>
            <a:endParaRPr sz="1800">
              <a:latin typeface="Adobe Heiti Std R"/>
              <a:ea typeface="Adobe Heiti Std R"/>
              <a:cs typeface="Adobe Heiti Std R"/>
            </a:endParaRPr>
          </a:p>
          <a:p xmlns:a="http://schemas.openxmlformats.org/drawingml/2006/main">
            <a:endParaRPr sz="1800">
              <a:latin typeface="Adobe Heiti Std R"/>
              <a:ea typeface="Adobe Heiti Std R"/>
              <a:cs typeface="Adobe Heiti Std R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40DFE79A-5A9F-4F94-BF69-6BB37B32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96" y="1402663"/>
            <a:ext cx="10521244" cy="105833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38AC"/>
          </a:solidFill>
          <a:effectLst xmlns:a="http://schemas.openxmlformats.org/drawingml/2006/main">
            <a:outerShdw blurRad="50800" dist="38100" dir="6540000" sx="101000" sy="101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4108136-F3B0-4CBF-BAF9-00E3CE8BC3E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579813"/>
            <a:ext cx="9144000" cy="848376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07716E68-9AF4-4DBC-AF3D-F16B986D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3560" y="7075805"/>
            <a:ext cx="4064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6E4EA0F-7671-4C39-86D6-BAD8358B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6259F32-EF24-4288-91BF-854B0A150A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6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608503CF-2BAC-4EDE-89CF-6664E39D35FA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205345"/>
            <a:ext cx="10515600" cy="4971618"/>
          </a:xfrm>
        </p:spPr>
        <p:txBody>
          <a:bodyPr xmlns:a="http://schemas.openxmlformats.org/drawingml/2006/main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E16C37E-36D9-4760-8B27-C8417B07F4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1" y="1709739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B34E5D78-3D00-463F-912C-3578BF15B873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1851" y="4589464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08D5A44-A472-453B-8C3B-8E13A235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F1ADA4AD-69B3-4F8A-B57F-E106B8BA2ECA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126067"/>
            <a:ext cx="5181600" cy="505089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6DB3300E-FD83-4FCA-B797-BEB08EE9084B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6172200" y="1126067"/>
            <a:ext cx="5181600" cy="505089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10" name="标题 1">
            <a:extLst xmlns:a="http://schemas.openxmlformats.org/drawingml/2006/main">
              <a:ext uri="{FF2B5EF4-FFF2-40B4-BE49-F238E27FC236}">
                <a16:creationId xmlns:a16="http://schemas.microsoft.com/office/drawing/2014/main" id="{37414438-E931-413B-9621-38E3BD99A3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1BC874F-4B0D-4076-B7A1-41CFEE3E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2D6EFE5-B5A1-40C2-80F6-31671289267D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9789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21CB474F-695E-4EB0-A4CC-82D90D496DDC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839789" y="2505075"/>
            <a:ext cx="5157787" cy="3684588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3AE2189C-A5B9-49DF-96E6-E5A26F2AABA0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331CD420-4BEF-4A46-A12D-9532B06FFB3F}"/>
              </a:ext>
            </a:extLst>
          </p:cNvPr>
          <p:cNvSpPr>
            <a:spLocks xmlns:a="http://schemas.openxmlformats.org/drawingml/2006/main" noGrp="1"/>
          </p:cNvSpPr>
          <p:nvPr>
            <p:ph idx="4" hasCustomPrompt="1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9" name="标题 1">
            <a:extLst xmlns:a="http://schemas.openxmlformats.org/drawingml/2006/main">
              <a:ext uri="{FF2B5EF4-FFF2-40B4-BE49-F238E27FC236}">
                <a16:creationId xmlns:a16="http://schemas.microsoft.com/office/drawing/2014/main" id="{3B5E11D5-3D4C-4EB7-B002-D748456E9C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73961B8-0B28-4F0E-83B7-ADAB9566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2E644C9E-EF98-44BA-A249-7E25D6F579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906DC77-5738-4F0C-8280-BAAFA7A6E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CC2C4FF7-C07C-499E-85A1-D1B2D1C242FC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5183188" y="987426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342900" indent="-342900">
              <a:buFont typeface="Arial"/>
              <a:buChar char="•"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4B742ECA-924F-4639-9AAC-A5617BB6BC3A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5A93B86-25E4-491A-8D13-8C1D83841F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D0BCB6D3-6AB4-4620-B4DD-CDA6C9E30A5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6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AC83E474-ADEE-45DC-8B16-9D2BECCE3E08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E5CEE441-9B76-448C-92C4-A87435661E13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1193800"/>
            <a:ext cx="10515600" cy="4983163"/>
          </a:xfrm>
        </p:spPr>
        <p:txBody>
          <a:bodyPr xmlns:a="http://schemas.openxmlformats.org/drawingml/2006/main" vert="eaVert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162DAFD-1211-4613-B647-1399E0E0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22C263F1-7506-4171-864E-900B82EC4F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B207391C-F770-4E40-ACD0-7A05AC54B8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5899D8CC-8EBE-4C82-9730-EC45FD37E9F3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17346c3ca54043" /><Relationship Type="http://schemas.openxmlformats.org/officeDocument/2006/relationships/slideLayout" Target="/ppt/slideLayouts/slideLayout1.xml" Id="Rd47a22c3b97f43ab" /><Relationship Type="http://schemas.openxmlformats.org/officeDocument/2006/relationships/slideLayout" Target="/ppt/slideLayouts/slideLayout2.xml" Id="R9bb126372def45af" /><Relationship Type="http://schemas.openxmlformats.org/officeDocument/2006/relationships/slideLayout" Target="/ppt/slideLayouts/slideLayout3.xml" Id="R48e469b53e154e9d" /><Relationship Type="http://schemas.openxmlformats.org/officeDocument/2006/relationships/slideLayout" Target="/ppt/slideLayouts/slideLayout4.xml" Id="Re7598bf22fb34ca8" /><Relationship Type="http://schemas.openxmlformats.org/officeDocument/2006/relationships/slideLayout" Target="/ppt/slideLayouts/slideLayout5.xml" Id="Rc404e775ca354836" /><Relationship Type="http://schemas.openxmlformats.org/officeDocument/2006/relationships/slideLayout" Target="/ppt/slideLayouts/slideLayout6.xml" Id="R2e416a75da0f4f42" /><Relationship Type="http://schemas.openxmlformats.org/officeDocument/2006/relationships/slideLayout" Target="/ppt/slideLayouts/slideLayout7.xml" Id="R1d11f48a14c242d7" /><Relationship Type="http://schemas.openxmlformats.org/officeDocument/2006/relationships/slideLayout" Target="/ppt/slideLayouts/slideLayout8.xml" Id="R8bfbaa5e25504669" /><Relationship Type="http://schemas.openxmlformats.org/officeDocument/2006/relationships/slideLayout" Target="/ppt/slideLayouts/slideLayout9.xml" Id="Rbd4ea277a4ad408d" /><Relationship Type="http://schemas.openxmlformats.org/officeDocument/2006/relationships/slideLayout" Target="/ppt/slideLayouts/slideLayout10.xml" Id="Rddc43a2cceca4b78" /><Relationship Type="http://schemas.openxmlformats.org/officeDocument/2006/relationships/slideLayout" Target="/ppt/slideLayouts/slideLayout11.xml" Id="R144d47e0d48b433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5A6092FD-B0EB-4DBC-A63C-2DA7ABA6CF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6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3E94FEC3-86C9-4A6E-835B-11FC6A44A9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7882A93-9108-4585-B43F-1A84C4AD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37866"/>
            <a:ext cx="4080000" cy="2201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C5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Guangyi </a:t>
            </a:r>
            <a:r>
              <a:rPr sz="1200"/>
              <a:t>Liu</a:t>
            </a:r>
            <a:endParaRPr sz="1200"/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D089757-DA32-44D8-8C9A-41FA463C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4000" y="6637867"/>
            <a:ext cx="4080000" cy="2201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A8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latin typeface="Arial"/>
                <a:ea typeface="Arial"/>
                <a:cs typeface="Arial"/>
              </a:defRPr>
            </a:pPr>
            <a:r>
              <a:rPr sz="900">
                <a:latin typeface="Arial"/>
                <a:ea typeface="Arial"/>
                <a:cs typeface="Arial"/>
              </a:rPr>
              <a:t>Universal Digital Agents</a:t>
            </a:r>
            <a:endParaRPr sz="1200"/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840013D-3DBD-4C28-97B2-08FF0B0C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000" y="6637866"/>
            <a:ext cx="4080000" cy="2201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38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  <p:sp>
        <p:nvSpPr>
          <p:cNvPr id="9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3534167-96AD-49C2-8E3D-CB620676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0773" y="6637866"/>
            <a:ext cx="1362187" cy="2201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algn="l" defTabSz="457200">
              <a:buNone/>
              <a:defRPr sz="900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57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 sz="1000">
              <a:latin typeface="Hiragino Sans GB W3"/>
              <a:ea typeface="Hiragino Sans GB W3"/>
              <a:cs typeface="Hiragino Sans GB W3"/>
            </a:endParaRPr>
          </a:p>
        </p:txBody>
      </p:sp>
      <p:sp>
        <p:nvSpPr>
          <p:cNvPr id="10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C312D8CC-E906-4231-B15E-D486B5CF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637865"/>
            <a:ext cx="728507" cy="22013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algn="l" defTabSz="457200">
              <a:buNone/>
              <a:defRPr sz="900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57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buNone/>
            </a:pPr>
            <a:fld id="{4F42B4B9-4F4F-DC40-8BF5-0036F3636617}" type="slidenum">
              <a:rPr lang="en-US" sz="1000">
                <a:solidFill>
                  <a:schemeClr val="bg1"/>
                </a:solidFill>
                <a:latin typeface="Arial"/>
                <a:ea typeface="Arial"/>
                <a:cs typeface="Arial"/>
              </a:rPr>
            </a:fld>
            <a:r>
              <a:rPr lang="en-US" sz="1000">
                <a:solidFill>
                  <a:schemeClr val="bg1"/>
                </a:solidFill>
                <a:latin typeface="Arial"/>
                <a:ea typeface="Arial"/>
                <a:cs typeface="Arial"/>
              </a:rPr>
              <a:t>/7</a:t>
            </a:r>
            <a:endParaRPr lang="en-US" sz="100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7a22c3b97f43ab"/>
    <p:sldLayoutId xmlns:r="http://schemas.openxmlformats.org/officeDocument/2006/relationships" id="2147483650" r:id="R9bb126372def45af"/>
    <p:sldLayoutId xmlns:r="http://schemas.openxmlformats.org/officeDocument/2006/relationships" id="2147483651" r:id="R48e469b53e154e9d"/>
    <p:sldLayoutId xmlns:r="http://schemas.openxmlformats.org/officeDocument/2006/relationships" id="2147483652" r:id="Re7598bf22fb34ca8"/>
    <p:sldLayoutId xmlns:r="http://schemas.openxmlformats.org/officeDocument/2006/relationships" id="2147483653" r:id="Rc404e775ca354836"/>
    <p:sldLayoutId xmlns:r="http://schemas.openxmlformats.org/officeDocument/2006/relationships" id="2147483654" r:id="R2e416a75da0f4f42"/>
    <p:sldLayoutId xmlns:r="http://schemas.openxmlformats.org/officeDocument/2006/relationships" id="2147483655" r:id="R1d11f48a14c242d7"/>
    <p:sldLayoutId xmlns:r="http://schemas.openxmlformats.org/officeDocument/2006/relationships" id="2147483656" r:id="R8bfbaa5e25504669"/>
    <p:sldLayoutId xmlns:r="http://schemas.openxmlformats.org/officeDocument/2006/relationships" id="2147483657" r:id="Rbd4ea277a4ad408d"/>
    <p:sldLayoutId xmlns:r="http://schemas.openxmlformats.org/officeDocument/2006/relationships" id="2147483658" r:id="Rddc43a2cceca4b78"/>
    <p:sldLayoutId xmlns:r="http://schemas.openxmlformats.org/officeDocument/2006/relationships" id="2147483659" r:id="R144d47e0d48b433a"/>
  </p:sldLayoutIdLst>
  <p:hf sldNum="0" hdr="0" ftr="0" dt="0"/>
  <p:txStyles>
    <p:titleStyle>
      <a:lvl1pPr xmlns:a="http://schemas.openxmlformats.org/drawingml/2006/main"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微软雅黑"/>
          <a:ea typeface="微软雅黑"/>
          <a:cs typeface="微软雅黑"/>
        </a:defRPr>
      </a:lvl1pPr>
    </p:titleStyle>
    <p:bodyStyle>
      <a:lvl1pPr xmlns:a="http://schemas.openxmlformats.org/drawingml/2006/main" marL="273050" indent="-273050" algn="l" defTabSz="685800">
        <a:lnSpc>
          <a:spcPct val="90000"/>
        </a:lnSpc>
        <a:spcBef>
          <a:spcPts val="750"/>
        </a:spcBef>
        <a:buClr>
          <a:schemeClr val="accent1"/>
        </a:buClr>
        <a:buFont typeface="Arial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4a57b64b64643" /><Relationship Type="http://schemas.openxmlformats.org/officeDocument/2006/relationships/image" Target="/ppt/media/image.jpeg" Id="R4cd381a16e3c4a01" /><Relationship Type="http://schemas.openxmlformats.org/officeDocument/2006/relationships/notesSlide" Target="/ppt/notesSlides/notesSlide1.xml" Id="Rb22bf361fecb46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f2d63715c241ed" /><Relationship Type="http://schemas.openxmlformats.org/officeDocument/2006/relationships/notesSlide" Target="/ppt/notesSlides/notesSlide2.xml" Id="Rbf48f9c9f10d45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890e3328ea94fbd" /><Relationship Type="http://schemas.openxmlformats.org/officeDocument/2006/relationships/notesSlide" Target="/ppt/notesSlides/notesSlide3.xml" Id="R9e98d48592f040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3438730d034dd1" /><Relationship Type="http://schemas.openxmlformats.org/officeDocument/2006/relationships/notesSlide" Target="/ppt/notesSlides/notesSlide4.xml" Id="R8a4727ccf02140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218fd786b44b9c" /><Relationship Type="http://schemas.openxmlformats.org/officeDocument/2006/relationships/notesSlide" Target="/ppt/notesSlides/notesSlide5.xml" Id="R5f042643eda346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a87a263fcc45e5" /><Relationship Type="http://schemas.openxmlformats.org/officeDocument/2006/relationships/notesSlide" Target="/ppt/notesSlides/notesSlide6.xml" Id="Rd38a670abb8b47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5eeb9aeb3e4538" /><Relationship Type="http://schemas.openxmlformats.org/officeDocument/2006/relationships/notesSlide" Target="/ppt/notesSlides/notesSlide7.xml" Id="Rdaf911284dae4fb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d381a16e3c4a0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66550" y="4115657"/>
            <a:ext cx="753209" cy="753209"/>
          </a:xfrm>
          <a:prstGeom xmlns:a="http://schemas.openxmlformats.org/drawingml/2006/main" prst="rect">
            <a:avLst/>
          </a:prstGeom>
        </p:spPr>
      </p:pic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2467D47B-1020-4B76-A623-E18225DCE2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latin typeface="Arial"/>
                <a:ea typeface="Arial"/>
                <a:cs typeface="Arial"/>
              </a:defRPr>
            </a:pPr>
            <a:r>
              <a:rPr sz="1500">
                <a:latin typeface="Arial"/>
                <a:ea typeface="Arial"/>
                <a:cs typeface="Arial"/>
              </a:rPr>
              <a:t>Guangyi Liu | Ph.D. Candidate, Zhejiang University</a:t>
            </a:r>
            <a:endParaRPr/>
          </a:p>
          <a:p xmlns:a="http://schemas.openxmlformats.org/drawingml/2006/main">
            <a:pPr>
              <a:defRPr sz="1500">
                <a:latin typeface="Arial"/>
                <a:ea typeface="Arial"/>
                <a:cs typeface="Arial"/>
              </a:defRPr>
            </a:pPr>
            <a:r>
              <a:rPr sz="1500">
                <a:latin typeface="Arial"/>
                <a:ea typeface="Arial"/>
                <a:cs typeface="Arial"/>
              </a:rPr>
              <a:t>Research Internship / Talent Program Interview | Expected Jun 2028</a:t>
            </a:r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C163030-7D9D-4851-AE9D-D29E0F26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476" y="5181488"/>
            <a:ext cx="967740" cy="3067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 sz="1400"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46932C1-8FCC-4E73-BA34-2A52FA78B2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>
                <a:latin typeface="Arial"/>
                <a:ea typeface="Arial"/>
                <a:cs typeface="Arial"/>
              </a:defRPr>
            </a:pPr>
            <a:r>
              <a:rPr sz="2550">
                <a:latin typeface="Arial"/>
                <a:ea typeface="Arial"/>
                <a:cs typeface="Arial"/>
              </a:rPr>
              <a:t>Universal Digital Agents That Learn, Remember, and Act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691861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6808187-55DE-4086-9A08-E26609B87C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latin typeface="Arial"/>
                <a:ea typeface="Arial"/>
                <a:cs typeface="Arial"/>
              </a:defRPr>
            </a:pPr>
            <a:r>
              <a:rPr sz="2250">
                <a:latin typeface="Arial"/>
                <a:ea typeface="Arial"/>
                <a:cs typeface="Arial"/>
              </a:rPr>
              <a:t>Candidate Snapshot | Research Focus and Impact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CFFC1AEC-5066-4521-9410-F3B9A504E943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205345"/>
            <a:ext cx="7886700" cy="497161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Research focus | Universal digital agents and GUI agents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Current role | Ph.D. candidate at ZJU APRIL Lab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Research output | 5 first-author works · ACM MM / ACL / TMLR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Academic impact | 415 citations · 122 first-author citations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Open-source impact | 632 first-author project GitHub stars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3879708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6D12EB96-D6C0-41AE-B1E5-A5FE7C6C0B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>
                <a:latin typeface="Arial"/>
                <a:ea typeface="Arial"/>
                <a:cs typeface="Arial"/>
              </a:defRPr>
            </a:pPr>
            <a:r>
              <a:rPr sz="3300">
                <a:latin typeface="Arial"/>
                <a:ea typeface="Arial"/>
                <a:cs typeface="Arial"/>
              </a:rPr>
              <a:t>Education and Growth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20D3F909-8CC0-4807-807F-21CD6D7E1C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2019–2023 | CUMT · B.Eng. in Automation | No. 1/203 · National Scholarship ×2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2023–2025 | Zhejiang University · M.S. | NeSC Group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2025–2028 | Zhejiang University · Ph.D. | APRIL Lab · Expected Jun 2028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691005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BD634EA-CC37-417E-A48B-8940AF36A5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latin typeface="Arial"/>
                <a:ea typeface="Arial"/>
                <a:cs typeface="Arial"/>
              </a:defRPr>
            </a:pPr>
            <a:r>
              <a:rPr sz="2250">
                <a:latin typeface="Arial"/>
                <a:ea typeface="Arial"/>
                <a:cs typeface="Arial"/>
              </a:rPr>
              <a:t>Industry Research | From Prototypes to Real Systems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152060B-FEFC-4D7A-9224-7B1AEF6F32FB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385889"/>
            <a:ext cx="78867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vivo AI Lab (Aug 2024–Aug 2025) | PhoneGPT, demonstration learning, online evaluation, and memory benchmarking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Kuaishou (Aug 2025–Jul 2026) | Agent post-training, long-horizon context management, and app defect detection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Research | Formulate questions and validate methods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Engineering | Build environments, data pipelines, and automated evaluation</a:t>
            </a:r>
            <a:endParaRPr/>
          </a:p>
          <a:p xmlns:a="http://schemas.openxmlformats.org/drawingml/2006/main">
            <a:pPr lvl="1">
              <a:buNone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Application | Connect agent research to real product workflows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837599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F983594-8EB9-4066-A57C-DC99B8061C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latin typeface="Arial"/>
                <a:ea typeface="Arial"/>
                <a:cs typeface="Arial"/>
              </a:defRPr>
            </a:pPr>
            <a:r>
              <a:rPr sz="2100">
                <a:latin typeface="Arial"/>
                <a:ea typeface="Arial"/>
                <a:cs typeface="Arial"/>
              </a:rPr>
              <a:t>Research Thesis | Continuous Improvement in Real Environments</a:t>
            </a:r>
            <a:endParaRPr/>
          </a:p>
        </p:txBody>
      </p:sp>
      <p:sp>
        <p:nvSpPr>
          <p:cNvPr id="4" name="同侧圆角矩形 3">
            <a:extLst xmlns:a="http://schemas.openxmlformats.org/drawingml/2006/main">
              <a:ext uri="{FF2B5EF4-FFF2-40B4-BE49-F238E27FC236}">
                <a16:creationId xmlns:a16="http://schemas.microsoft.com/office/drawing/2014/main" id="{9B574661-9D4E-4667-B939-3D2A0963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88379"/>
            <a:ext cx="7981094" cy="493954"/>
          </a:xfrm>
          <a:prstGeom xmlns:a="http://schemas.openxmlformats.org/drawingml/2006/main" prst="round2SameRect">
            <a:avLst>
              <a:gd name="adj1" fmla="val 30340"/>
              <a:gd name="adj2" fmla="val 0"/>
            </a:avLst>
          </a:prstGeom>
          <a:gradFill xmlns:a="http://schemas.openxmlformats.org/drawingml/2006/main" rotWithShape="1">
            <a:gsLst>
              <a:gs pos="40000">
                <a:schemeClr val="accent2"/>
              </a:gs>
              <a:gs pos="13000">
                <a:schemeClr val="accent2"/>
              </a:gs>
              <a:gs pos="0">
                <a:srgbClr val="F6ECE2"/>
              </a:gs>
            </a:gsLst>
            <a:lin ang="16200000" scaled="0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 b="1"/>
          </a:p>
        </p:txBody>
      </p:sp>
      <p:sp>
        <p:nvSpPr>
          <p:cNvPr id="5" name="文本占位符 8">
            <a:extLst xmlns:a="http://schemas.openxmlformats.org/drawingml/2006/main">
              <a:ext uri="{FF2B5EF4-FFF2-40B4-BE49-F238E27FC236}">
                <a16:creationId xmlns:a16="http://schemas.microsoft.com/office/drawing/2014/main" id="{6601C440-8131-4CE0-9D60-0B6EBA00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3396" y="2158240"/>
            <a:ext cx="4071937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l" defTabSz="685800">
              <a:lnSpc>
                <a:spcPct val="90000"/>
              </a:lnSpc>
              <a:spcBef>
                <a:spcPts val="750"/>
              </a:spcBef>
              <a:buClr>
                <a:schemeClr val="accent1"/>
              </a:buClr>
              <a:buFont typeface="Arial"/>
              <a:buNone/>
              <a:defRPr sz="1800" b="1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5143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572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001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5430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8859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2288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5717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9146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500">
                <a:latin typeface="Arial"/>
                <a:ea typeface="Arial"/>
                <a:cs typeface="Arial"/>
              </a:defRPr>
            </a:pPr>
            <a:r>
              <a:rPr sz="1500">
                <a:latin typeface="Arial"/>
                <a:ea typeface="Arial"/>
                <a:cs typeface="Arial"/>
              </a:rPr>
              <a:t>Universal Digital Agents</a:t>
            </a:r>
            <a:endParaRPr/>
          </a:p>
        </p:txBody>
      </p:sp>
      <p:sp>
        <p:nvSpPr>
          <p:cNvPr id="6" name="文本占位符 10">
            <a:extLst xmlns:a="http://schemas.openxmlformats.org/drawingml/2006/main">
              <a:ext uri="{FF2B5EF4-FFF2-40B4-BE49-F238E27FC236}">
                <a16:creationId xmlns:a16="http://schemas.microsoft.com/office/drawing/2014/main" id="{1575A3A3-3A92-4B92-8617-06BBB87D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582332"/>
            <a:ext cx="7981094" cy="2115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E2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xmlns:a="http://schemas.openxmlformats.org/drawingml/2006/main" tIns="90000">
            <a:noAutofit/>
          </a:bodyPr>
          <a:lstStyle xmlns:a="http://schemas.openxmlformats.org/drawingml/2006/main">
            <a:lvl1pPr marL="273050" indent="-273050" algn="l" defTabSz="685800">
              <a:lnSpc>
                <a:spcPct val="90000"/>
              </a:lnSpc>
              <a:spcBef>
                <a:spcPts val="750"/>
              </a:spcBef>
              <a:buClr>
                <a:schemeClr val="accent1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143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572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001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5430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8859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2288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5717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9146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Learn | Demonstrations, feedback, RL, and post-training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Remember | Context management, experience reuse, and continual adaptation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Evaluate | Online protocols, interpretable metrics, and failure diagnosis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Act | Cross-app tool use and long-horizon execution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392467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BC2A346-B63E-4978-B86D-D766333EA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latin typeface="Arial"/>
                <a:ea typeface="Arial"/>
                <a:cs typeface="Arial"/>
              </a:defRPr>
            </a:pPr>
            <a:r>
              <a:rPr sz="2250">
                <a:latin typeface="Arial"/>
                <a:ea typeface="Arial"/>
                <a:cs typeface="Arial"/>
              </a:rPr>
              <a:t>End-to-End Ownership | From Question to System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195B4033-6F7E-4BA0-BA72-70A1864E6479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205345"/>
            <a:ext cx="7886700" cy="497161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Environment and data | Exploration, demonstrations, rollouts, feedback, and memory traces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Policy | Prompting, SFT, RL, and context-management actions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Evaluation | Online success, pass@k, progressive scrutiny, and failure diagnosis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System | A reproducible pipeline from exploration to deployment</a:t>
            </a:r>
            <a:endParaRPr/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6C343437-966E-4DDC-8011-41BA2267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52650" y="3408685"/>
            <a:ext cx="7890933" cy="56493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ECE2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7354CDF-59D9-489A-B843-6E131184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67037" y="3506488"/>
            <a:ext cx="2468880" cy="36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defRPr sz="1500">
                <a:latin typeface="Arial"/>
                <a:ea typeface="Arial"/>
                <a:cs typeface="Arial"/>
              </a:defRPr>
            </a:pPr>
            <a:r>
              <a:rPr sz="1500">
                <a:latin typeface="Arial"/>
                <a:ea typeface="Arial"/>
                <a:cs typeface="Arial"/>
              </a:rPr>
              <a:t>Find the bottleneck → make it measurable → close the loop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17742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34F22BED-DC72-4AF4-A82D-DB838BFA3A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>
                <a:latin typeface="Arial"/>
                <a:ea typeface="Arial"/>
                <a:cs typeface="Arial"/>
              </a:defRPr>
            </a:pPr>
            <a:r>
              <a:rPr sz="3300">
                <a:latin typeface="Arial"/>
                <a:ea typeface="Arial"/>
                <a:cs typeface="Arial"/>
              </a:rPr>
              <a:t>Five First-Author Works, One Coherent Research Arc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D8242C56-72B2-4285-A3A3-6E3D2FC1B1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Survey → LearnAct → MemGUI-Bench → MobileForge → MemGUI-Agent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From field mapping to demonstration learning, memory evaluation, self-improvement, and long-horizon agents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085639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2026-08-09T04:27:33.5550000Z</dcterms:created>
  <dcterms:modified xsi:type="dcterms:W3CDTF">2026-08-09T04:27:33.5550000Z</dcterms:modified>
</coreProperties>
</file>