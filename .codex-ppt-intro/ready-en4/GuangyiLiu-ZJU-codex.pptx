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bbf425eb74b30" /><Relationship Type="http://schemas.openxmlformats.org/officeDocument/2006/relationships/extended-properties" Target="/docProps/app.xml" Id="R13ce0bd7082c4924" /><Relationship Type="http://schemas.openxmlformats.org/officeDocument/2006/relationships/officeDocument" Target="/ppt/presentation.xml" Id="Ra7391b11d4214d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d1a2db0cae4002"/>
  </p:sldMasterIdLst>
  <p:notesMasterIdLst>
    <p:notesMasterId xmlns:r="http://schemas.openxmlformats.org/officeDocument/2006/relationships" r:id="Rd86e4d11944e4d79"/>
  </p:notesMasterIdLst>
  <p:sldIdLst>
    <p:sldId xmlns:r="http://schemas.openxmlformats.org/officeDocument/2006/relationships" id="256" r:id="R075ab40d45174394"/>
    <p:sldId xmlns:r="http://schemas.openxmlformats.org/officeDocument/2006/relationships" id="257" r:id="Rfe3a8c7f49304ad1"/>
    <p:sldId xmlns:r="http://schemas.openxmlformats.org/officeDocument/2006/relationships" id="258" r:id="Reda0f66b4e034ac1"/>
    <p:sldId xmlns:r="http://schemas.openxmlformats.org/officeDocument/2006/relationships" id="259" r:id="R593a1a1fbd17462c"/>
    <p:sldId xmlns:r="http://schemas.openxmlformats.org/officeDocument/2006/relationships" id="260" r:id="Rb2c24480a9e14bbc"/>
    <p:sldId xmlns:r="http://schemas.openxmlformats.org/officeDocument/2006/relationships" id="261" r:id="R968b28d1b37b4822"/>
    <p:sldId xmlns:r="http://schemas.openxmlformats.org/officeDocument/2006/relationships" id="262" r:id="R410b67d6292845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c7541a2e6c49b3" /><Relationship Type="http://schemas.openxmlformats.org/officeDocument/2006/relationships/slideMaster" Target="/ppt/slideMasters/slideMaster1.xml" Id="R6cd1a2db0cae4002" /><Relationship Type="http://schemas.openxmlformats.org/officeDocument/2006/relationships/notesMaster" Target="/ppt/notesMasters/notesMaster1.xml" Id="Rd86e4d11944e4d79" /><Relationship Type="http://schemas.openxmlformats.org/officeDocument/2006/relationships/presProps" Target="/ppt/presProps.xml" Id="R041d9ba78e414fe1" /><Relationship Type="http://schemas.openxmlformats.org/officeDocument/2006/relationships/viewProps" Target="/ppt/viewProps.xml" Id="Rf36262a633654444" /><Relationship Type="http://schemas.openxmlformats.org/officeDocument/2006/relationships/tableStyles" Target="/ppt/tableStyles.xml" Id="R7ec79c27d4f74692" /><Relationship Type="http://schemas.openxmlformats.org/officeDocument/2006/relationships/slide" Target="/ppt/slides/slide1.xml" Id="R075ab40d45174394" /><Relationship Type="http://schemas.openxmlformats.org/officeDocument/2006/relationships/slide" Target="/ppt/slides/slide2.xml" Id="Rfe3a8c7f49304ad1" /><Relationship Type="http://schemas.openxmlformats.org/officeDocument/2006/relationships/slide" Target="/ppt/slides/slide3.xml" Id="Reda0f66b4e034ac1" /><Relationship Type="http://schemas.openxmlformats.org/officeDocument/2006/relationships/slide" Target="/ppt/slides/slide4.xml" Id="R593a1a1fbd17462c" /><Relationship Type="http://schemas.openxmlformats.org/officeDocument/2006/relationships/slide" Target="/ppt/slides/slide5.xml" Id="Rb2c24480a9e14bbc" /><Relationship Type="http://schemas.openxmlformats.org/officeDocument/2006/relationships/slide" Target="/ppt/slides/slide6.xml" Id="R968b28d1b37b4822" /><Relationship Type="http://schemas.openxmlformats.org/officeDocument/2006/relationships/slide" Target="/ppt/slides/slide7.xml" Id="R410b67d6292845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fe6e53193b4a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c3016f9a9e4173" /><Relationship Type="http://schemas.openxmlformats.org/officeDocument/2006/relationships/notesMaster" Target="/ppt/notesMasters/notesMaster1.xml" Id="Rb6fbc0da20f147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b53ed082f54861" /><Relationship Type="http://schemas.openxmlformats.org/officeDocument/2006/relationships/notesMaster" Target="/ppt/notesMasters/notesMaster1.xml" Id="R469e942006bf41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2228f0b67146f6" /><Relationship Type="http://schemas.openxmlformats.org/officeDocument/2006/relationships/notesMaster" Target="/ppt/notesMasters/notesMaster1.xml" Id="R02713be9afc647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51fa08047744ae" /><Relationship Type="http://schemas.openxmlformats.org/officeDocument/2006/relationships/notesMaster" Target="/ppt/notesMasters/notesMaster1.xml" Id="R2e18b00b73344d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8a6a37be2e4544" /><Relationship Type="http://schemas.openxmlformats.org/officeDocument/2006/relationships/notesMaster" Target="/ppt/notesMasters/notesMaster1.xml" Id="Rddf17d082abb4c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483e5ad10c4eb6" /><Relationship Type="http://schemas.openxmlformats.org/officeDocument/2006/relationships/notesMaster" Target="/ppt/notesMasters/notesMaster1.xml" Id="Racce1000ce304b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7ef0dd534e48bb" /><Relationship Type="http://schemas.openxmlformats.org/officeDocument/2006/relationships/notesMaster" Target="/ppt/notesMasters/notesMaster1.xml" Id="Ra0ad49aa4ca34f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Open with the long-term research goal: agents that learn, remember, and act reliably in real digital environments.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/Users/liuguangyi05/code/personal-info-guangyi/Guangyi-CV-latex/main.tex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/Users/liuguangyi05/code/personal-info-guangyi/lgy0404.github.io/_pages/about.md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Establish the overall profile in forty seconds: a focused research direction, a coherent body of work, and measurable academic and open-source impact. Metrics updated Aug 9, 2026.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/Users/liuguangyi05/code/personal-info-guangyi/Guangyi-CV-latex/main.tex</a:t>
            </a:r>
            <a:endParaRPr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- /Users/liuguangyi05/code/personal-info-guangyi/lgy0404.github.io/_pages/about.md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the continuous path from automation and control to universal digital agents, supported by the top undergraduate ranking and two National Scholarships.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/Users/liuguangyi05/code/personal-info-guangyi/Guangyi-CV-latex/main.tex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consecutive industry research experiences demonstrate a closed loop across research, engineering, and application rather than paper-only collaboration.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/Users/liuguangyi05/code/personal-info-guangyi/Guangyi-CV-latex/main.tex</a:t>
            </a:r>
            <a:endParaRPr/>
          </a:p>
          <a:p xmlns:a="http://schemas.openxmlformats.org/drawingml/2006/main">
            <a:r>
              <a:t>- /Users/liuguangyi05/code/personal-info-guangyi/lgy0404.github.io/_pages/about.md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Mobile GUIs are the current proving ground because they combine dynamic interfaces, sparse feedback, hidden state, long-tail workflows, and deployment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/Users/liuguangyi05/code/personal-info-guangyi/Guangyi-CV-latex/main.tex</a:t>
            </a:r>
          </a:p>
          <a:p xmlns:a="http://schemas.openxmlformats.org/drawingml/2006/main">
            <a:r>
              <a:t>- /Users/liuguangyi05/code/personal-info-guangyi/research-summary-guangyi/interview-slides/slidev/slides.md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ownership of the full research loop: not only algorithms, but also environments, data, evaluation, and reproducible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/Users/liuguangyi05/code/personal-info-guangyi/research-summary-guangyi/interview-slides/slidev/slides.md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transition from the candidate overview to the paper-by-paper discussion that follows the same research arc.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/Users/liuguangyi05/code/personal-info-guangyi/Guangyi-CV-latex/main.tex</a:t>
            </a:r>
            <a:endParaRPr/>
          </a:p>
          <a:p xmlns:a="http://schemas.openxmlformats.org/drawingml/2006/main">
            <a:r>
              <a:t>- /Users/liuguangyi05/code/personal-info-guangyi/lgy0404.github.io/_pages/about.md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061b9eeba44c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dce1ac54645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2124a31584d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b67cd8c304a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56fcdf69047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955710b8f46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3974202d943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57546060147c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9e6b2b94bd46c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e581a9bf949c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6ad4e5b22408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72E08B9-50EC-4885-875D-47955B8A0A8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485899" y="2983971"/>
            <a:ext cx="9144000" cy="111389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rPr sz="1800">
                <a:latin typeface="Adobe Heiti Std R"/>
                <a:ea typeface="Adobe Heiti Std R"/>
                <a:cs typeface="Adobe Heiti Std R"/>
              </a:rPr>
              <a:t>单击此处编辑母版作者信息样式</a:t>
            </a:r>
            <a:endParaRPr sz="1800">
              <a:latin typeface="Adobe Heiti Std R"/>
              <a:ea typeface="Adobe Heiti Std R"/>
              <a:cs typeface="Adobe Heiti Std R"/>
            </a:endParaRPr>
          </a:p>
          <a:p xmlns:a="http://schemas.openxmlformats.org/drawingml/2006/main">
            <a:endParaRPr sz="1800">
              <a:latin typeface="Adobe Heiti Std R"/>
              <a:ea typeface="Adobe Heiti Std R"/>
              <a:cs typeface="Adobe Heiti Std R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E9AC6149-9D9D-4775-839E-D1DC42C8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96" y="1402663"/>
            <a:ext cx="10521244" cy="105833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38AC"/>
          </a:solidFill>
          <a:effectLst xmlns:a="http://schemas.openxmlformats.org/drawingml/2006/main"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43D1C8C-79D6-415F-8117-447482C6E0C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579813"/>
            <a:ext cx="9144000" cy="84837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09EAD57-7D59-4E73-8DE5-9C3C80CA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560" y="7075805"/>
            <a:ext cx="4064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B292D7B-880F-4551-8B36-A856569D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4210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4BF64DC-0FC5-4DFE-8277-234B018D7E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8490"/>
            <a:ext cx="10515600" cy="8451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6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493612B-0A81-4E93-96C9-A0705098331B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205345"/>
            <a:ext cx="10515600" cy="4971618"/>
          </a:xfrm>
        </p:spPr>
        <p:txBody>
          <a:bodyPr xmlns:a="http://schemas.openxmlformats.org/drawingml/2006/main"/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B2A2E8-833B-446A-839B-489D4FB6FC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09739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11AD732-12E2-442E-8752-CA314E309F00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1851" y="4589464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A6024B-8A78-4C88-9D64-809C4F7F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4210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FFF6534-EF5D-4952-96F9-58CFCC8777DE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126067"/>
            <a:ext cx="5181600" cy="5050896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pPr marL="273050" lvl="0" indent="-273050">
              <a:buNone/>
            </a:pPr>
            <a:r>
              <a:t>编辑母版文本样式
第二级
第三级
第四级
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7F10F7C-47A5-4FFC-9B91-0993DE7EB46D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172200" y="1126067"/>
            <a:ext cx="5181600" cy="5050896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pPr marL="273050" lvl="0" indent="-273050">
              <a:buNone/>
            </a:pPr>
            <a:r>
              <a:t>编辑母版文本样式
第二级
第三级
第四级
第五级</a:t>
            </a:r>
            <a:endParaRPr/>
          </a:p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788B6180-96B5-4327-86E1-1E816480D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8490"/>
            <a:ext cx="10515600" cy="8451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84DD15E-9C08-43EB-ACB5-B7282AC7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4210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9536418-0335-4E81-AF22-01882B65288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9789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B2F2D12-261B-49D8-BD9F-8D50B65FAC04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839789" y="2505075"/>
            <a:ext cx="5157787" cy="3684588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pPr marL="273050" lvl="0" indent="-273050">
              <a:buNone/>
            </a:pPr>
            <a:r>
              <a:t>编辑母版文本样式
第二级
第三级
第四级
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B80F718-802B-4B2C-ACDC-F174896A26A4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0045FD7-9209-45C9-B584-1F4DC26B6A58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pPr marL="273050" lvl="0" indent="-273050">
              <a:buNone/>
            </a:pPr>
            <a:r>
              <a:t>编辑母版文本样式
第二级
第三级
第四级
第五级</a:t>
            </a:r>
            <a:endParaRPr/>
          </a:p>
        </p:txBody>
      </p:sp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AF0ED7EE-8B24-4162-95D6-25269B6C0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8490"/>
            <a:ext cx="10515600" cy="8451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93D1D33-FA55-48DD-9704-D5749901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4210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01230A29-6662-4A5D-8678-722F3D56A9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8490"/>
            <a:ext cx="10515600" cy="8451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4F15B3-6A32-450D-9EDF-21564B3408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0BBFE7-CB08-498C-A1DD-92427C8FAC66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Font typeface="Arial"/>
              <a:buChar char="•"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4AA5B5A-0213-416A-9254-C9C8EAD82595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CD434FE-6176-4020-8503-C74460812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3C99A7F-0DEB-4002-B171-AA383D31956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FEAE172-EDCC-42CB-BC8C-ED9EE7CA3B9A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8719F59-688C-4905-8E9E-5B47024FD14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8200" y="1193800"/>
            <a:ext cx="10515600" cy="4983163"/>
          </a:xfrm>
        </p:spPr>
        <p:txBody>
          <a:bodyPr xmlns:a="http://schemas.openxmlformats.org/drawingml/2006/main" vert="eaVert"/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B828EEB-7954-4211-A335-49F28F20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42109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softEdge rad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C8580BD0-2D1D-4BEC-B8D5-F4B514724A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48490"/>
            <a:ext cx="10515600" cy="84512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6F0D407-3CEE-4E3A-BC5B-097C5B4528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C7E1D57-847A-4179-9F6B-6DB9418AB77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>
            <a:lvl1pPr marL="273050" indent="-273050">
              <a:buFont typeface="Arial"/>
              <a:buChar char="•"/>
              <a:defRPr/>
            </a:lvl1pPr>
          </a:lstStyle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9fef8691dd4fca" /><Relationship Type="http://schemas.openxmlformats.org/officeDocument/2006/relationships/slideLayout" Target="/ppt/slideLayouts/slideLayout1.xml" Id="Rba826ccc6a5c4b55" /><Relationship Type="http://schemas.openxmlformats.org/officeDocument/2006/relationships/slideLayout" Target="/ppt/slideLayouts/slideLayout2.xml" Id="R3dee51e17e7a4c28" /><Relationship Type="http://schemas.openxmlformats.org/officeDocument/2006/relationships/slideLayout" Target="/ppt/slideLayouts/slideLayout3.xml" Id="Rc00f82233c144eb3" /><Relationship Type="http://schemas.openxmlformats.org/officeDocument/2006/relationships/slideLayout" Target="/ppt/slideLayouts/slideLayout4.xml" Id="Rd627ce2a8f6440ca" /><Relationship Type="http://schemas.openxmlformats.org/officeDocument/2006/relationships/slideLayout" Target="/ppt/slideLayouts/slideLayout5.xml" Id="Rfeb1ea7797ef4231" /><Relationship Type="http://schemas.openxmlformats.org/officeDocument/2006/relationships/slideLayout" Target="/ppt/slideLayouts/slideLayout6.xml" Id="Re7a4ba3b50a3410e" /><Relationship Type="http://schemas.openxmlformats.org/officeDocument/2006/relationships/slideLayout" Target="/ppt/slideLayouts/slideLayout7.xml" Id="R92e5c340aeca45a2" /><Relationship Type="http://schemas.openxmlformats.org/officeDocument/2006/relationships/slideLayout" Target="/ppt/slideLayouts/slideLayout8.xml" Id="R81f521310af64acd" /><Relationship Type="http://schemas.openxmlformats.org/officeDocument/2006/relationships/slideLayout" Target="/ppt/slideLayouts/slideLayout9.xml" Id="Rcbc9a7d508fb48ea" /><Relationship Type="http://schemas.openxmlformats.org/officeDocument/2006/relationships/slideLayout" Target="/ppt/slideLayouts/slideLayout10.xml" Id="R0fe07a893e1a43fb" /><Relationship Type="http://schemas.openxmlformats.org/officeDocument/2006/relationships/slideLayout" Target="/ppt/slideLayouts/slideLayout11.xml" Id="R031f14ebdfd44af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A6092FD-B0EB-4DBC-A63C-2DA7ABA6C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6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E94FEC3-86C9-4A6E-835B-11FC6A44A9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r>
              <a:t>编辑母版文本样式
第二级
第三级
第四级
第五级</a:t>
            </a:r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7882A93-9108-4585-B43F-1A84C4AD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37866"/>
            <a:ext cx="4080000" cy="2201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5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/>
              <a:t>Guangyi </a:t>
            </a:r>
            <a:r>
              <a:rPr sz="1200"/>
              <a:t>Liu</a:t>
            </a:r>
            <a:endParaRPr sz="1200"/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D089757-DA32-44D8-8C9A-41FA463C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4000" y="6637867"/>
            <a:ext cx="4080000" cy="2201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A8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latin typeface="Arial"/>
                <a:ea typeface="Arial"/>
                <a:cs typeface="Arial"/>
              </a:defRPr>
            </a:pPr>
            <a:r>
              <a:rPr sz="900">
                <a:latin typeface="Arial"/>
                <a:ea typeface="Arial"/>
                <a:cs typeface="Arial"/>
              </a:rPr>
              <a:t>Universal Digital Agents</a:t>
            </a:r>
            <a:endParaRPr sz="1200"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840013D-3DBD-4C28-97B2-08FF0B0C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000" y="6637866"/>
            <a:ext cx="4080000" cy="2201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8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/>
          </a:p>
        </p:txBody>
      </p:sp>
      <p:sp>
        <p:nvSpPr>
          <p:cNvPr id="9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534167-96AD-49C2-8E3D-CB620676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773" y="6637866"/>
            <a:ext cx="1362187" cy="2201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l" defTabSz="457200">
              <a:buNone/>
              <a:defRPr sz="9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000">
              <a:latin typeface="Hiragino Sans GB W3"/>
              <a:ea typeface="Hiragino Sans GB W3"/>
              <a:cs typeface="Hiragino Sans GB W3"/>
            </a:endParaRPr>
          </a:p>
        </p:txBody>
      </p:sp>
      <p:sp>
        <p:nvSpPr>
          <p:cNvPr id="10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312D8CC-E906-4231-B15E-D486B5CF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637865"/>
            <a:ext cx="728507" cy="220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l" defTabSz="457200">
              <a:buNone/>
              <a:defRPr sz="9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</a:pPr>
            <a:fld id="{4F42B4B9-4F4F-DC40-8BF5-0036F3636617}" type="slidenum">
              <a:rPr lang="en-US" sz="1000">
                <a:solidFill>
                  <a:schemeClr val="bg1"/>
                </a:solidFill>
                <a:latin typeface="Arial"/>
                <a:ea typeface="Arial"/>
                <a:cs typeface="Arial"/>
              </a:rPr>
            </a:fld>
            <a:r>
              <a:rPr lang="en-US" sz="1000">
                <a:solidFill>
                  <a:schemeClr val="bg1"/>
                </a:solidFill>
                <a:latin typeface="Arial"/>
                <a:ea typeface="Arial"/>
                <a:cs typeface="Arial"/>
              </a:rPr>
              <a:t>/7</a:t>
            </a:r>
            <a:endParaRPr lang="en-US" sz="100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7a22c3b97f43ab"/>
    <p:sldLayoutId xmlns:r="http://schemas.openxmlformats.org/officeDocument/2006/relationships" id="2147483650" r:id="R9bb126372def45af"/>
    <p:sldLayoutId xmlns:r="http://schemas.openxmlformats.org/officeDocument/2006/relationships" id="2147483651" r:id="R48e469b53e154e9d"/>
    <p:sldLayoutId xmlns:r="http://schemas.openxmlformats.org/officeDocument/2006/relationships" id="2147483652" r:id="Re7598bf22fb34ca8"/>
    <p:sldLayoutId xmlns:r="http://schemas.openxmlformats.org/officeDocument/2006/relationships" id="2147483653" r:id="Rc404e775ca354836"/>
    <p:sldLayoutId xmlns:r="http://schemas.openxmlformats.org/officeDocument/2006/relationships" id="2147483654" r:id="R2e416a75da0f4f42"/>
    <p:sldLayoutId xmlns:r="http://schemas.openxmlformats.org/officeDocument/2006/relationships" id="2147483655" r:id="R1d11f48a14c242d7"/>
    <p:sldLayoutId xmlns:r="http://schemas.openxmlformats.org/officeDocument/2006/relationships" id="2147483656" r:id="R8bfbaa5e25504669"/>
    <p:sldLayoutId xmlns:r="http://schemas.openxmlformats.org/officeDocument/2006/relationships" id="2147483657" r:id="Rbd4ea277a4ad408d"/>
    <p:sldLayoutId xmlns:r="http://schemas.openxmlformats.org/officeDocument/2006/relationships" id="2147483658" r:id="Rddc43a2cceca4b78"/>
    <p:sldLayoutId xmlns:r="http://schemas.openxmlformats.org/officeDocument/2006/relationships" id="2147483659" r:id="R144d47e0d48b433a"/>
  </p:sldLayoutIdLst>
  <p:hf sldNum="0" hdr="0" ftr="0" dt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73050" indent="-273050" algn="l" defTabSz="685800">
        <a:lnSpc>
          <a:spcPct val="90000"/>
        </a:lnSpc>
        <a:spcBef>
          <a:spcPts val="750"/>
        </a:spcBef>
        <a:buClr>
          <a:schemeClr val="accent1"/>
        </a:buClr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d8b2df513424b" /><Relationship Type="http://schemas.openxmlformats.org/officeDocument/2006/relationships/image" Target="/ppt/media/image.jpeg" Id="Rd4e22dbb9cf547ac" /><Relationship Type="http://schemas.openxmlformats.org/officeDocument/2006/relationships/notesSlide" Target="/ppt/notesSlides/notesSlide1.xml" Id="Rd120958d5af74f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e195c5e6964834" /><Relationship Type="http://schemas.openxmlformats.org/officeDocument/2006/relationships/notesSlide" Target="/ppt/notesSlides/notesSlide2.xml" Id="R9f3c0c640e514b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1de0f748ae24dc2" /><Relationship Type="http://schemas.openxmlformats.org/officeDocument/2006/relationships/notesSlide" Target="/ppt/notesSlides/notesSlide3.xml" Id="R2a525e7e839c46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6b6444de724915" /><Relationship Type="http://schemas.openxmlformats.org/officeDocument/2006/relationships/notesSlide" Target="/ppt/notesSlides/notesSlide4.xml" Id="R0f0043dbc13c45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16017baca54343" /><Relationship Type="http://schemas.openxmlformats.org/officeDocument/2006/relationships/notesSlide" Target="/ppt/notesSlides/notesSlide5.xml" Id="R74a211c4814441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5259eb1d644e0d" /><Relationship Type="http://schemas.openxmlformats.org/officeDocument/2006/relationships/notesSlide" Target="/ppt/notesSlides/notesSlide6.xml" Id="R0f30da7a08d7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b6098417b44e6d" /><Relationship Type="http://schemas.openxmlformats.org/officeDocument/2006/relationships/notesSlide" Target="/ppt/notesSlides/notesSlide7.xml" Id="R6d634a2b5ce247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22dbb9cf547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6550" y="4115657"/>
            <a:ext cx="753209" cy="753209"/>
          </a:xfrm>
          <a:prstGeom xmlns:a="http://schemas.openxmlformats.org/drawingml/2006/main" prst="rect">
            <a:avLst/>
          </a:prstGeom>
        </p:spPr>
      </p:pic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76E0F83-1431-48CF-BBE3-BBCA45B649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latin typeface="Arial"/>
                <a:ea typeface="Arial"/>
                <a:cs typeface="Arial"/>
              </a:defRPr>
            </a:pPr>
            <a:r>
              <a:rPr sz="1500">
                <a:latin typeface="Arial"/>
                <a:ea typeface="Arial"/>
                <a:cs typeface="Arial"/>
              </a:rPr>
              <a:t>Guangyi Liu | Ph.D. Candidate, Zhejiang University</a:t>
            </a:r>
            <a:endParaRPr/>
          </a:p>
          <a:p xmlns:a="http://schemas.openxmlformats.org/drawingml/2006/main">
            <a:pPr>
              <a:defRPr sz="1500">
                <a:latin typeface="Arial"/>
                <a:ea typeface="Arial"/>
                <a:cs typeface="Arial"/>
              </a:defRPr>
            </a:pPr>
            <a:r>
              <a:rPr sz="1500">
                <a:latin typeface="Arial"/>
                <a:ea typeface="Arial"/>
                <a:cs typeface="Arial"/>
              </a:rPr>
              <a:t>Research Internship / Talent Program Interview | Expected Jun 2028</a:t>
            </a: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CC8D70-D3BC-487C-8E2D-A8C0010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476" y="5181488"/>
            <a:ext cx="967740" cy="3067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 sz="1400"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6F5514-2CD2-4E49-877F-0A982BEC1D0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latin typeface="Arial"/>
                <a:ea typeface="Arial"/>
                <a:cs typeface="Arial"/>
              </a:defRPr>
            </a:pPr>
            <a:r>
              <a:rPr sz="2550">
                <a:latin typeface="Arial"/>
                <a:ea typeface="Arial"/>
                <a:cs typeface="Arial"/>
              </a:rPr>
              <a:t>Universal Digital Agents That Learn, Remember, and Act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61089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FC83466-8707-4206-BC14-47205940A8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latin typeface="Arial"/>
                <a:ea typeface="Arial"/>
                <a:cs typeface="Arial"/>
              </a:defRPr>
            </a:pPr>
            <a:r>
              <a:rPr sz="2250">
                <a:latin typeface="Arial"/>
                <a:ea typeface="Arial"/>
                <a:cs typeface="Arial"/>
              </a:rPr>
              <a:t>Candidate Snapshot | Research Focus and Impact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82DB68-FE63-4B28-8CF3-0F805F67899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52650" y="1205345"/>
            <a:ext cx="7886700" cy="497161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Font typeface="+mj-ea"/>
              <a:buAutoNum type="circleNumDbPlain"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Research focus | Universal digital agents and GUI agents</a:t>
            </a:r>
            <a:endParaRPr/>
          </a:p>
          <a:p xmlns:a="http://schemas.openxmlformats.org/drawingml/2006/main">
            <a:pPr marL="457200" indent="-457200">
              <a:lnSpc>
                <a:spcPct val="150000"/>
              </a:lnSpc>
              <a:buFont typeface="+mj-ea"/>
              <a:buAutoNum type="circleNumDbPlain"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Current role | Ph.D. candidate at ZJU APRIL Lab</a:t>
            </a:r>
            <a:endParaRPr/>
          </a:p>
          <a:p xmlns:a="http://schemas.openxmlformats.org/drawingml/2006/main">
            <a:pPr marL="457200" indent="-457200">
              <a:lnSpc>
                <a:spcPct val="150000"/>
              </a:lnSpc>
              <a:buFont typeface="+mj-ea"/>
              <a:buAutoNum type="circleNumDbPlain"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Research output | 5 first-author works · ACM MM / ACL / TMLR</a:t>
            </a:r>
            <a:endParaRPr/>
          </a:p>
          <a:p xmlns:a="http://schemas.openxmlformats.org/drawingml/2006/main">
            <a:pPr marL="457200" indent="-457200">
              <a:lnSpc>
                <a:spcPct val="150000"/>
              </a:lnSpc>
              <a:buFont typeface="+mj-ea"/>
              <a:buAutoNum type="circleNumDbPlain"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Academic impact | 415 citations · 122 first-author citations</a:t>
            </a:r>
            <a:endParaRPr/>
          </a:p>
          <a:p xmlns:a="http://schemas.openxmlformats.org/drawingml/2006/main">
            <a:pPr marL="457200" indent="-457200">
              <a:lnSpc>
                <a:spcPct val="150000"/>
              </a:lnSpc>
              <a:buFont typeface="+mj-ea"/>
              <a:buAutoNum type="circleNumDbPlain"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Open-source impact | 632 first-author project GitHub stars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9552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400D9821-CF84-4937-B133-F82BEACD54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>
                <a:latin typeface="Arial"/>
                <a:ea typeface="Arial"/>
                <a:cs typeface="Arial"/>
              </a:defRPr>
            </a:pPr>
            <a:r>
              <a:rPr sz="3300">
                <a:latin typeface="Arial"/>
                <a:ea typeface="Arial"/>
                <a:cs typeface="Arial"/>
              </a:rPr>
              <a:t>Education and Growth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0323EC8-E039-4ED4-9D49-61E345C45A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2019–2023 | CUMT · B.Eng. in Automation | No. 1/203 · National Scholarship ×2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2023–2025 | Zhejiang University · M.S. | NeSC Group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2025–2028 | Zhejiang University · Ph.D. | APRIL Lab · Expected Jun 2028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54724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4BFC9E-2640-49AE-BB66-95F55AC32C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latin typeface="Arial"/>
                <a:ea typeface="Arial"/>
                <a:cs typeface="Arial"/>
              </a:defRPr>
            </a:pPr>
            <a:r>
              <a:rPr sz="2250">
                <a:latin typeface="Arial"/>
                <a:ea typeface="Arial"/>
                <a:cs typeface="Arial"/>
              </a:rPr>
              <a:t>Industry Research | From Prototypes to Real Systems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953C494-D886-4BE2-8335-4B00CF82E4C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52650" y="1385889"/>
            <a:ext cx="78867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vivo AI Lab (Aug 2024–Aug 2025) | PhoneGPT, demonstration learning, online evaluation, and memory benchmarking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Kuaishou (Aug 2025–Jul 2026) | Agent post-training, long-horizon context management, and app defect detection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Research | Formulate questions and validate methods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Engineering | Build environments, data pipelines, and automated evaluation</a:t>
            </a:r>
            <a:endParaRPr/>
          </a:p>
          <a:p xmlns:a="http://schemas.openxmlformats.org/drawingml/2006/main">
            <a:pPr lvl="1">
              <a:buNone/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Application | Connect agent research to real product workflows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9833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CA0FAF-B541-4D4B-82CA-8F517A31C3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latin typeface="Arial"/>
                <a:ea typeface="Arial"/>
                <a:cs typeface="Arial"/>
              </a:defRPr>
            </a:pPr>
            <a:r>
              <a:rPr sz="2100">
                <a:latin typeface="Arial"/>
                <a:ea typeface="Arial"/>
                <a:cs typeface="Arial"/>
              </a:rPr>
              <a:t>Research Thesis | Continuous Improvement in Real Environments</a:t>
            </a:r>
            <a:endParaRPr/>
          </a:p>
        </p:txBody>
      </p:sp>
      <p:sp>
        <p:nvSpPr>
          <p:cNvPr id="4" name="同侧圆角矩形 3">
            <a:extLst xmlns:a="http://schemas.openxmlformats.org/drawingml/2006/main">
              <a:ext uri="{FF2B5EF4-FFF2-40B4-BE49-F238E27FC236}">
                <a16:creationId xmlns:a16="http://schemas.microsoft.com/office/drawing/2014/main" id="{2E5B2D59-2C7F-444D-91F3-F3471E6C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88379"/>
            <a:ext cx="7981094" cy="493954"/>
          </a:xfrm>
          <a:prstGeom xmlns:a="http://schemas.openxmlformats.org/drawingml/2006/main" prst="round2SameRect">
            <a:avLst>
              <a:gd name="adj1" fmla="val 30340"/>
              <a:gd name="adj2" fmla="val 0"/>
            </a:avLst>
          </a:prstGeom>
          <a:gradFill xmlns:a="http://schemas.openxmlformats.org/drawingml/2006/main" rotWithShape="1">
            <a:gsLst>
              <a:gs pos="40000">
                <a:schemeClr val="accent2"/>
              </a:gs>
              <a:gs pos="13000">
                <a:schemeClr val="accent2"/>
              </a:gs>
              <a:gs pos="0">
                <a:srgbClr val="F6ECE2"/>
              </a:gs>
            </a:gsLst>
            <a:lin ang="16200000" scaled="0"/>
            <a:tileRect/>
          </a:gra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 b="1"/>
          </a:p>
        </p:txBody>
      </p:sp>
      <p:sp>
        <p:nvSpPr>
          <p:cNvPr id="5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07F620B9-904F-4F49-B02F-ADD4F734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396" y="2158240"/>
            <a:ext cx="4071937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/>
              <a:buNone/>
              <a:defRPr sz="1800" b="1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500">
                <a:latin typeface="Arial"/>
                <a:ea typeface="Arial"/>
                <a:cs typeface="Arial"/>
              </a:defRPr>
            </a:pPr>
            <a:r>
              <a:rPr sz="1500">
                <a:latin typeface="Arial"/>
                <a:ea typeface="Arial"/>
                <a:cs typeface="Arial"/>
              </a:rPr>
              <a:t>Universal Digital Agents</a:t>
            </a:r>
            <a:endParaRPr/>
          </a:p>
        </p:txBody>
      </p:sp>
      <p:sp>
        <p:nvSpPr>
          <p:cNvPr id="6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B423E156-D240-4E7E-A098-B356AF5E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82332"/>
            <a:ext cx="7981094" cy="2115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E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tIns="90000">
            <a:noAutofit/>
          </a:bodyPr>
          <a:lstStyle xmlns:a="http://schemas.openxmlformats.org/drawingml/2006/main">
            <a:lvl1pPr marL="273050" indent="-273050" algn="l" defTabSz="685800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Learn | Demonstrations, feedback, RL, and post-training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Remember | Context management, experience reuse, and continual adaptation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Evaluate | Online protocols, interpretable metrics, and failure diagnosis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Act | Cross-app tool use and long-horizon execution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55100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666CB7-B1D1-4032-851A-FFDAC2D8CB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latin typeface="Arial"/>
                <a:ea typeface="Arial"/>
                <a:cs typeface="Arial"/>
              </a:defRPr>
            </a:pPr>
            <a:r>
              <a:rPr sz="2250">
                <a:latin typeface="Arial"/>
                <a:ea typeface="Arial"/>
                <a:cs typeface="Arial"/>
              </a:rPr>
              <a:t>End-to-End Ownership | From Question to System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C4AE69C-C208-4BB8-BE05-B1F189918410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52650" y="1205345"/>
            <a:ext cx="7886700" cy="497161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latin typeface="Arial"/>
                <a:ea typeface="Arial"/>
                <a:cs typeface="Arial"/>
              </a:defRPr>
            </a:pPr>
            <a:r>
              <a:rPr sz="1350">
                <a:latin typeface="Arial"/>
                <a:ea typeface="Arial"/>
                <a:cs typeface="Arial"/>
              </a:rPr>
              <a:t>Environment | Demonstrations, rollouts, and feedback</a:t>
            </a:r>
            <a:endParaRPr/>
          </a:p>
          <a:p xmlns:a="http://schemas.openxmlformats.org/drawingml/2006/main">
            <a:pPr>
              <a:defRPr sz="1350">
                <a:latin typeface="Arial"/>
                <a:ea typeface="Arial"/>
                <a:cs typeface="Arial"/>
              </a:defRPr>
            </a:pPr>
            <a:r>
              <a:rPr sz="1350">
                <a:latin typeface="Arial"/>
                <a:ea typeface="Arial"/>
                <a:cs typeface="Arial"/>
              </a:rPr>
              <a:t>Policy | Prompting, SFT, RL, and context actions</a:t>
            </a:r>
            <a:endParaRPr/>
          </a:p>
          <a:p xmlns:a="http://schemas.openxmlformats.org/drawingml/2006/main">
            <a:pPr>
              <a:defRPr sz="1350">
                <a:latin typeface="Arial"/>
                <a:ea typeface="Arial"/>
                <a:cs typeface="Arial"/>
              </a:defRPr>
            </a:pPr>
            <a:r>
              <a:rPr sz="1350">
                <a:latin typeface="Arial"/>
                <a:ea typeface="Arial"/>
                <a:cs typeface="Arial"/>
              </a:rPr>
              <a:t>Evaluation | Online success, pass@k, and diagnosis</a:t>
            </a:r>
            <a:endParaRPr/>
          </a:p>
          <a:p xmlns:a="http://schemas.openxmlformats.org/drawingml/2006/main">
            <a:pPr>
              <a:defRPr sz="1350">
                <a:latin typeface="Arial"/>
                <a:ea typeface="Arial"/>
                <a:cs typeface="Arial"/>
              </a:defRPr>
            </a:pPr>
            <a:r>
              <a:rPr sz="1350">
                <a:latin typeface="Arial"/>
                <a:ea typeface="Arial"/>
                <a:cs typeface="Arial"/>
              </a:rPr>
              <a:t>System | Reproducible exploration-to-deployment pipeline</a:t>
            </a:r>
            <a:endParaRPr/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272B53BD-6581-44B1-A463-75C86645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52650" y="3408685"/>
            <a:ext cx="7890933" cy="56493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6ECE2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D109826-82B9-41EB-A8C6-AB2ACDBA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67037" y="3506488"/>
            <a:ext cx="246888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defRPr sz="1350">
                <a:latin typeface="Arial"/>
                <a:ea typeface="Arial"/>
                <a:cs typeface="Arial"/>
              </a:defRPr>
            </a:pPr>
            <a:r>
              <a:rPr sz="1350">
                <a:latin typeface="Arial"/>
                <a:ea typeface="Arial"/>
                <a:cs typeface="Arial"/>
              </a:rPr>
              <a:t>Find | Measure | Improve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16525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67388516-7039-4061-93F4-0E77EA145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>
                <a:latin typeface="Arial"/>
                <a:ea typeface="Arial"/>
                <a:cs typeface="Arial"/>
              </a:defRPr>
            </a:pPr>
            <a:r>
              <a:rPr sz="3300">
                <a:latin typeface="Arial"/>
                <a:ea typeface="Arial"/>
                <a:cs typeface="Arial"/>
              </a:rPr>
              <a:t>Five First-Author Works, One Coherent Research Arc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BCCCF81-1DE3-4157-A24B-A5B570C6E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Survey → LearnAct → MemGUI-Bench → MobileForge → MemGUI-Agent</a:t>
            </a:r>
            <a:endParaRPr/>
          </a:p>
          <a:p xmlns:a="http://schemas.openxmlformats.org/drawingml/2006/main">
            <a:pPr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From field mapping to demonstration learning, memory evaluation, self-improvement, and long-horizon agents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273338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3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2026-08-09T04:30:12.5390000Z</dcterms:created>
  <dcterms:modified xsi:type="dcterms:W3CDTF">2026-08-09T04:30:12.5390000Z</dcterms:modified>
</coreProperties>
</file>