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f8b093689a4a59" /><Relationship Type="http://schemas.openxmlformats.org/officeDocument/2006/relationships/extended-properties" Target="/docProps/app.xml" Id="R5c04c9d0c7ae4934" /><Relationship Type="http://schemas.openxmlformats.org/officeDocument/2006/relationships/officeDocument" Target="/ppt/presentation.xml" Id="R0c4985a058f647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b460ff15de4a3c"/>
  </p:sldMasterIdLst>
  <p:notesMasterIdLst>
    <p:notesMasterId xmlns:r="http://schemas.openxmlformats.org/officeDocument/2006/relationships" r:id="R3b7f7b59ce4e4964"/>
  </p:notesMasterIdLst>
  <p:sldIdLst>
    <p:sldId xmlns:r="http://schemas.openxmlformats.org/officeDocument/2006/relationships" id="256" r:id="R970dc0de0ee64452"/>
    <p:sldId xmlns:r="http://schemas.openxmlformats.org/officeDocument/2006/relationships" id="257" r:id="Rfe8d5b9cddec4045"/>
    <p:sldId xmlns:r="http://schemas.openxmlformats.org/officeDocument/2006/relationships" id="258" r:id="Raa38231e62b7489d"/>
    <p:sldId xmlns:r="http://schemas.openxmlformats.org/officeDocument/2006/relationships" id="259" r:id="Rd6e98072ce1b4cb5"/>
    <p:sldId xmlns:r="http://schemas.openxmlformats.org/officeDocument/2006/relationships" id="260" r:id="R14db60bc239946e4"/>
    <p:sldId xmlns:r="http://schemas.openxmlformats.org/officeDocument/2006/relationships" id="261" r:id="Ra62d6039ca534aab"/>
    <p:sldId xmlns:r="http://schemas.openxmlformats.org/officeDocument/2006/relationships" id="262" r:id="R72e22eb4eb5b40d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f09d56608d44f9" /><Relationship Type="http://schemas.openxmlformats.org/officeDocument/2006/relationships/slideMaster" Target="/ppt/slideMasters/slideMaster1.xml" Id="Rf5b460ff15de4a3c" /><Relationship Type="http://schemas.openxmlformats.org/officeDocument/2006/relationships/notesMaster" Target="/ppt/notesMasters/notesMaster1.xml" Id="R3b7f7b59ce4e4964" /><Relationship Type="http://schemas.openxmlformats.org/officeDocument/2006/relationships/presProps" Target="/ppt/presProps.xml" Id="Rd0372ce57288476f" /><Relationship Type="http://schemas.openxmlformats.org/officeDocument/2006/relationships/viewProps" Target="/ppt/viewProps.xml" Id="Rdb980e04cb4e4456" /><Relationship Type="http://schemas.openxmlformats.org/officeDocument/2006/relationships/tableStyles" Target="/ppt/tableStyles.xml" Id="Rdb82cbc39cdc48af" /><Relationship Type="http://schemas.openxmlformats.org/officeDocument/2006/relationships/slide" Target="/ppt/slides/slide1.xml" Id="R970dc0de0ee64452" /><Relationship Type="http://schemas.openxmlformats.org/officeDocument/2006/relationships/slide" Target="/ppt/slides/slide2.xml" Id="Rfe8d5b9cddec4045" /><Relationship Type="http://schemas.openxmlformats.org/officeDocument/2006/relationships/slide" Target="/ppt/slides/slide3.xml" Id="Raa38231e62b7489d" /><Relationship Type="http://schemas.openxmlformats.org/officeDocument/2006/relationships/slide" Target="/ppt/slides/slide4.xml" Id="Rd6e98072ce1b4cb5" /><Relationship Type="http://schemas.openxmlformats.org/officeDocument/2006/relationships/slide" Target="/ppt/slides/slide5.xml" Id="R14db60bc239946e4" /><Relationship Type="http://schemas.openxmlformats.org/officeDocument/2006/relationships/slide" Target="/ppt/slides/slide6.xml" Id="Ra62d6039ca534aab" /><Relationship Type="http://schemas.openxmlformats.org/officeDocument/2006/relationships/slide" Target="/ppt/slides/slide7.xml" Id="R72e22eb4eb5b40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562fb5251f4f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df90e1adcf44f3" /><Relationship Type="http://schemas.openxmlformats.org/officeDocument/2006/relationships/notesMaster" Target="/ppt/notesMasters/notesMaster1.xml" Id="R0e9474633e0741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b0bce9bab84d42" /><Relationship Type="http://schemas.openxmlformats.org/officeDocument/2006/relationships/notesMaster" Target="/ppt/notesMasters/notesMaster1.xml" Id="R534991774cb749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c827de31284550" /><Relationship Type="http://schemas.openxmlformats.org/officeDocument/2006/relationships/notesMaster" Target="/ppt/notesMasters/notesMaster1.xml" Id="Re195f6a22de240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a3284df8a94f9b" /><Relationship Type="http://schemas.openxmlformats.org/officeDocument/2006/relationships/notesMaster" Target="/ppt/notesMasters/notesMaster1.xml" Id="Rf210a64289b04b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ecbdebc99f4ef0" /><Relationship Type="http://schemas.openxmlformats.org/officeDocument/2006/relationships/notesMaster" Target="/ppt/notesMasters/notesMaster1.xml" Id="R5497e3046ee54c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88aa8cf0f5429a" /><Relationship Type="http://schemas.openxmlformats.org/officeDocument/2006/relationships/notesMaster" Target="/ppt/notesMasters/notesMaster1.xml" Id="R3c6df89f39834e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9e8cb645cf45a0" /><Relationship Type="http://schemas.openxmlformats.org/officeDocument/2006/relationships/notesMaster" Target="/ppt/notesMasters/notesMaster1.xml" Id="R5669f08b617d47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开场先给出长期研究目标：让智能体能在真实数字环境中学习、记忆并可靠行动。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/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/Users/liuguangyi05/code/personal-info-guangyi/Guangyi-CV-latex/main.tex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用四十秒建立整体印象：研究方向集中、成果连续、学术与开源影响可量化。指标更新时间为 2026.08.09。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/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/Users/liuguangyi05/code/personal-info-guangyi/Guangyi-CV-latex/main.tex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强调从自动化控制到通用数字智能体的连续成长，并用专业第一与国家奖学金说明学习与执行能力。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两段连续产业经历体现研究、工程和应用三者闭环，而不仅是论文合作。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  <a:p xmlns:a="http://schemas.openxmlformats.org/drawingml/2006/main"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手机 GUI 是当前试验场，因为它同时包含动态界面、稀疏反馈、隐藏状态、长尾流程和部署约束。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/Users/liuguangyi05/code/personal-info-guangyi/Guangyi-CV-latex/main.tex</a:t>
            </a:r>
          </a:p>
          <a:p xmlns:a="http://schemas.openxmlformats.org/drawingml/2006/main">
            <a:r>
              <a:t>- /Users/liuguangyi05/code/personal-info-guangyi/research-summary-guangyi/interview-slides/slidev/slides.md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强调对完整研究链路负责：不仅提出算法，也把环境、数据与评测做成可运行系统。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/Users/liuguangyi05/code/personal-info-guangyi/research-summary-guangyi/interview-slides/slidev/slides.md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本页作为个人整体介绍与逐篇论文之间的过渡，后续按这条研究主线依次展开。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  <a:p xmlns:a="http://schemas.openxmlformats.org/drawingml/2006/main"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b5051909d341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5733ec704e417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fab1214a9a4d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1395a3647b4d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c0ff5704c4d5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f27acaed5f466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b852ec40c546a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29054adf914c6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94f4f6b4e447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8f1b5b1f834c8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91c12c4cf443b2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7DD25751-9FBF-455B-B720-99EE864C29DF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485899" y="2983971"/>
            <a:ext cx="9144000" cy="1113896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ctr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rPr sz="1800">
                <a:latin typeface="Adobe Heiti Std R"/>
                <a:ea typeface="Adobe Heiti Std R"/>
                <a:cs typeface="Adobe Heiti Std R"/>
              </a:rPr>
              <a:t>单击此处编辑母版作者信息样式</a:t>
            </a:r>
            <a:endParaRPr sz="1800">
              <a:latin typeface="Adobe Heiti Std R"/>
              <a:ea typeface="Adobe Heiti Std R"/>
              <a:cs typeface="Adobe Heiti Std R"/>
            </a:endParaRPr>
          </a:p>
          <a:p xmlns:a="http://schemas.openxmlformats.org/drawingml/2006/main">
            <a:endParaRPr sz="1800">
              <a:latin typeface="Adobe Heiti Std R"/>
              <a:ea typeface="Adobe Heiti Std R"/>
              <a:cs typeface="Adobe Heiti Std R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71FF1313-4639-4C8F-82F1-56AFFFC4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96" y="1402663"/>
            <a:ext cx="10521244" cy="105833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38AC"/>
          </a:solidFill>
          <a:effectLst xmlns:a="http://schemas.openxmlformats.org/drawingml/2006/main">
            <a:outerShdw blurRad="50800" dist="38100" dir="6540000" sx="101000" sy="101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2587520-636A-49FE-8DB8-4E161634A8A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579813"/>
            <a:ext cx="9144000" cy="848376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8998ED42-9ED9-4971-92F3-94F0101F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3560" y="7075805"/>
            <a:ext cx="4064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A37859A-FE64-4E54-8225-99C41316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405CCE9-C942-4506-A666-867C740C11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6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82CB7118-7269-4FA6-A164-525A08A27CFF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838200" y="1205345"/>
            <a:ext cx="10515600" cy="4971618"/>
          </a:xfrm>
        </p:spPr>
        <p:txBody>
          <a:bodyPr xmlns:a="http://schemas.openxmlformats.org/drawingml/2006/main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7618802-EC29-4DA8-BC6B-3940A256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1" y="1709739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9321D71-A510-4F36-A5EB-E41203F8033B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1851" y="4589464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0E8F9B8-EC6C-47C0-9331-38004549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854A75E6-57CB-4D02-96C5-5B1B002AB632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838200" y="1126067"/>
            <a:ext cx="5181600" cy="5050896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7BF22FE7-C672-4B1B-B3AD-9BC64B5DC7CB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6172200" y="1126067"/>
            <a:ext cx="5181600" cy="5050896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10" name="标题 1">
            <a:extLst xmlns:a="http://schemas.openxmlformats.org/drawingml/2006/main">
              <a:ext uri="{FF2B5EF4-FFF2-40B4-BE49-F238E27FC236}">
                <a16:creationId xmlns:a16="http://schemas.microsoft.com/office/drawing/2014/main" id="{7B64462B-7980-4415-B24C-4B546F470E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CE70806-B46E-4B69-A6A9-BCA0134E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F0655F7F-D056-4A70-AB52-48050DD6F54C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9789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554C86BA-5BF4-47EA-A1A9-B56BBEE32F6D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839789" y="2505075"/>
            <a:ext cx="5157787" cy="3684588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95D370F3-224F-41B5-92FB-F06D575125B5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7AE08D06-B87B-4D64-9EEE-1AF76E53DBE3}"/>
              </a:ext>
            </a:extLst>
          </p:cNvPr>
          <p:cNvSpPr>
            <a:spLocks xmlns:a="http://schemas.openxmlformats.org/drawingml/2006/main" noGrp="1"/>
          </p:cNvSpPr>
          <p:nvPr>
            <p:ph idx="4" hasCustomPrompt="1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9" name="标题 1">
            <a:extLst xmlns:a="http://schemas.openxmlformats.org/drawingml/2006/main">
              <a:ext uri="{FF2B5EF4-FFF2-40B4-BE49-F238E27FC236}">
                <a16:creationId xmlns:a16="http://schemas.microsoft.com/office/drawing/2014/main" id="{12722756-A6EF-49A1-8963-F227A3EE2E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3411B28-B104-4016-9CC4-388502E3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B6FCA73F-F1F5-42EC-991F-98320B1010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87ACCB8-ED75-4BD6-B6EC-4FB06236FC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3AFD0689-CDF1-4291-93BA-6AC29A333FFD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5183188" y="987426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342900" indent="-342900">
              <a:buFont typeface="Arial"/>
              <a:buChar char="•"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77CB0238-DBF3-4EE0-99D4-EBA40EE3B166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1097E58-A2F5-42DE-A2D6-544A1B294C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D1FE7409-9F26-4B1D-9762-FF414C1DE40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6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10EE5A75-7045-4C16-A11B-E32896ABA132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DB9AFBF3-7E86-434A-99CB-FD95FF48FBCA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8200" y="1193800"/>
            <a:ext cx="10515600" cy="4983163"/>
          </a:xfrm>
        </p:spPr>
        <p:txBody>
          <a:bodyPr xmlns:a="http://schemas.openxmlformats.org/drawingml/2006/main" vert="eaVert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A7E86C6A-2CF8-4B0B-8C28-25D4BBD8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CDA0C8E7-0BE9-445C-9FB7-A3A47C33F3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18305552-C9C6-4D75-8E0A-DBAC8F7CB3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6303C827-0EB5-4832-908D-44106CDD81EC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007f39bb314641" /><Relationship Type="http://schemas.openxmlformats.org/officeDocument/2006/relationships/slideLayout" Target="/ppt/slideLayouts/slideLayout1.xml" Id="R706474fa0a07404f" /><Relationship Type="http://schemas.openxmlformats.org/officeDocument/2006/relationships/slideLayout" Target="/ppt/slideLayouts/slideLayout2.xml" Id="Rfdeee57d809745c3" /><Relationship Type="http://schemas.openxmlformats.org/officeDocument/2006/relationships/slideLayout" Target="/ppt/slideLayouts/slideLayout3.xml" Id="Ra7f26cce992446f2" /><Relationship Type="http://schemas.openxmlformats.org/officeDocument/2006/relationships/slideLayout" Target="/ppt/slideLayouts/slideLayout4.xml" Id="Re81368403ef94374" /><Relationship Type="http://schemas.openxmlformats.org/officeDocument/2006/relationships/slideLayout" Target="/ppt/slideLayouts/slideLayout5.xml" Id="R054891bc6c484274" /><Relationship Type="http://schemas.openxmlformats.org/officeDocument/2006/relationships/slideLayout" Target="/ppt/slideLayouts/slideLayout6.xml" Id="R910f42bbec554297" /><Relationship Type="http://schemas.openxmlformats.org/officeDocument/2006/relationships/slideLayout" Target="/ppt/slideLayouts/slideLayout7.xml" Id="Rcf2de5560c4645d7" /><Relationship Type="http://schemas.openxmlformats.org/officeDocument/2006/relationships/slideLayout" Target="/ppt/slideLayouts/slideLayout8.xml" Id="R43f2ac50c2b94a5b" /><Relationship Type="http://schemas.openxmlformats.org/officeDocument/2006/relationships/slideLayout" Target="/ppt/slideLayouts/slideLayout9.xml" Id="R63b3f437d0dc4e80" /><Relationship Type="http://schemas.openxmlformats.org/officeDocument/2006/relationships/slideLayout" Target="/ppt/slideLayouts/slideLayout10.xml" Id="R5cb85082f99a4d5a" /><Relationship Type="http://schemas.openxmlformats.org/officeDocument/2006/relationships/slideLayout" Target="/ppt/slideLayouts/slideLayout11.xml" Id="Rd64f6c7666dc439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4CA4607C-1930-4DE1-A40F-F280457EF3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6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AEDC0A85-640D-44B5-9AFD-BA05B2CFFE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8150CCB-9049-4E2D-9AC3-92929C75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37866"/>
            <a:ext cx="4080000" cy="2201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C5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Guangyi </a:t>
            </a:r>
            <a:r>
              <a:rPr sz="1200"/>
              <a:t>Liu</a:t>
            </a:r>
            <a:endParaRPr sz="1200"/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49B606C-EEB8-466E-8C9B-3767A60A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4000" y="6637867"/>
            <a:ext cx="4080000" cy="2201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A8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Universal Digital Agents</a:t>
            </a:r>
            <a:endParaRPr sz="1200"/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3C849FD-E7F8-4B28-8CBE-320F4359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000" y="6637866"/>
            <a:ext cx="4080000" cy="2201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38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  <p:sp>
        <p:nvSpPr>
          <p:cNvPr id="9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7F0931A-DE57-4720-BF79-0838B946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0773" y="6637866"/>
            <a:ext cx="1362187" cy="2201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algn="l" defTabSz="457200">
              <a:buNone/>
              <a:defRPr sz="900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457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 sz="1000">
              <a:latin typeface="Hiragino Sans GB W3"/>
              <a:ea typeface="Hiragino Sans GB W3"/>
              <a:cs typeface="Hiragino Sans GB W3"/>
            </a:endParaRPr>
          </a:p>
        </p:txBody>
      </p:sp>
      <p:sp>
        <p:nvSpPr>
          <p:cNvPr id="10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7CCB1F8-B212-48ED-8C78-BD28BCDC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637865"/>
            <a:ext cx="728507" cy="22013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algn="l" defTabSz="457200">
              <a:buNone/>
              <a:defRPr sz="900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457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buNone/>
            </a:pPr>
            <a:fld id="{4F42B4B9-4F4F-DC40-8BF5-0036F3636617}" type="slidenum">
              <a:rPr lang="en-US" sz="1000">
                <a:solidFill>
                  <a:schemeClr val="bg1"/>
                </a:solidFill>
                <a:latin typeface="Hiragino Sans GB W3"/>
                <a:ea typeface="Hiragino Sans GB W3"/>
                <a:cs typeface="Hiragino Sans GB W3"/>
              </a:rPr>
            </a:fld>
            <a:r>
              <a:rPr lang="en-US" sz="1000">
                <a:solidFill>
                  <a:schemeClr val="bg1"/>
                </a:solidFill>
                <a:latin typeface="Hiragino Sans GB W3"/>
                <a:ea typeface="Hiragino Sans GB W3"/>
                <a:cs typeface="Hiragino Sans GB W3"/>
              </a:rPr>
              <a:t>/7</a:t>
            </a:r>
            <a:endParaRPr lang="en-US" sz="1000">
              <a:solidFill>
                <a:schemeClr val="bg1"/>
              </a:solidFill>
              <a:latin typeface="Hiragino Sans GB W3"/>
              <a:ea typeface="Hiragino Sans GB W3"/>
              <a:cs typeface="Hiragino Sans GB W3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6474fa0a07404f"/>
    <p:sldLayoutId xmlns:r="http://schemas.openxmlformats.org/officeDocument/2006/relationships" id="2147483650" r:id="Rfdeee57d809745c3"/>
    <p:sldLayoutId xmlns:r="http://schemas.openxmlformats.org/officeDocument/2006/relationships" id="2147483651" r:id="Ra7f26cce992446f2"/>
    <p:sldLayoutId xmlns:r="http://schemas.openxmlformats.org/officeDocument/2006/relationships" id="2147483652" r:id="Re81368403ef94374"/>
    <p:sldLayoutId xmlns:r="http://schemas.openxmlformats.org/officeDocument/2006/relationships" id="2147483653" r:id="R054891bc6c484274"/>
    <p:sldLayoutId xmlns:r="http://schemas.openxmlformats.org/officeDocument/2006/relationships" id="2147483654" r:id="R910f42bbec554297"/>
    <p:sldLayoutId xmlns:r="http://schemas.openxmlformats.org/officeDocument/2006/relationships" id="2147483655" r:id="Rcf2de5560c4645d7"/>
    <p:sldLayoutId xmlns:r="http://schemas.openxmlformats.org/officeDocument/2006/relationships" id="2147483656" r:id="R43f2ac50c2b94a5b"/>
    <p:sldLayoutId xmlns:r="http://schemas.openxmlformats.org/officeDocument/2006/relationships" id="2147483657" r:id="R63b3f437d0dc4e80"/>
    <p:sldLayoutId xmlns:r="http://schemas.openxmlformats.org/officeDocument/2006/relationships" id="2147483658" r:id="R5cb85082f99a4d5a"/>
    <p:sldLayoutId xmlns:r="http://schemas.openxmlformats.org/officeDocument/2006/relationships" id="2147483659" r:id="Rd64f6c7666dc4398"/>
  </p:sldLayoutIdLst>
  <p:hf sldNum="0" hdr="0" ftr="0" dt="0"/>
  <p:txStyles>
    <p:titleStyle>
      <a:lvl1pPr xmlns:a="http://schemas.openxmlformats.org/drawingml/2006/main"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微软雅黑"/>
          <a:ea typeface="微软雅黑"/>
          <a:cs typeface="微软雅黑"/>
        </a:defRPr>
      </a:lvl1pPr>
    </p:titleStyle>
    <p:bodyStyle>
      <a:lvl1pPr xmlns:a="http://schemas.openxmlformats.org/drawingml/2006/main" marL="273050" indent="-273050" algn="l" defTabSz="685800">
        <a:lnSpc>
          <a:spcPct val="90000"/>
        </a:lnSpc>
        <a:spcBef>
          <a:spcPts val="750"/>
        </a:spcBef>
        <a:buClr>
          <a:schemeClr val="accent1"/>
        </a:buClr>
        <a:buFont typeface="Arial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71a5f3283a4196" /><Relationship Type="http://schemas.openxmlformats.org/officeDocument/2006/relationships/image" Target="/ppt/media/image.jpeg" Id="R7a9864e415664c5f" /><Relationship Type="http://schemas.openxmlformats.org/officeDocument/2006/relationships/notesSlide" Target="/ppt/notesSlides/notesSlide1.xml" Id="R812d93e9174d40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86a79f7f764014" /><Relationship Type="http://schemas.openxmlformats.org/officeDocument/2006/relationships/notesSlide" Target="/ppt/notesSlides/notesSlide2.xml" Id="R4071459a1daa48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efc5c7f68d04283" /><Relationship Type="http://schemas.openxmlformats.org/officeDocument/2006/relationships/notesSlide" Target="/ppt/notesSlides/notesSlide3.xml" Id="Rc392db60c75e4b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42eb69d6fc40e1" /><Relationship Type="http://schemas.openxmlformats.org/officeDocument/2006/relationships/notesSlide" Target="/ppt/notesSlides/notesSlide4.xml" Id="R6c819eda6bd646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aaf3b5b130468d" /><Relationship Type="http://schemas.openxmlformats.org/officeDocument/2006/relationships/notesSlide" Target="/ppt/notesSlides/notesSlide5.xml" Id="R3b6446fe76274b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be26ba26104509" /><Relationship Type="http://schemas.openxmlformats.org/officeDocument/2006/relationships/notesSlide" Target="/ppt/notesSlides/notesSlide6.xml" Id="R03f5304d33d54c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5cdee5e198c4b08" /><Relationship Type="http://schemas.openxmlformats.org/officeDocument/2006/relationships/notesSlide" Target="/ppt/notesSlides/notesSlide7.xml" Id="R71724e4d05ed42b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864e415664c5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66550" y="4115657"/>
            <a:ext cx="753209" cy="753209"/>
          </a:xfrm>
          <a:prstGeom xmlns:a="http://schemas.openxmlformats.org/drawingml/2006/main" prst="rect">
            <a:avLst/>
          </a:prstGeom>
        </p:spPr>
      </p:pic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2DB9E92E-79F4-4A0D-AA2A-4CE73E1D12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刘广义｜浙江大学控制科学与工程学院 博士研究生</a:t>
            </a:r>
            <a:endParaRPr/>
          </a:p>
          <a:p xmlns:a="http://schemas.openxmlformats.org/drawingml/2006/main">
            <a:r>
              <a:t>互联网大厂人才计划实习面试｜预计 2028.06 毕业</a:t>
            </a:r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6FB9713-C224-4E16-AEE4-31C0A615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476" y="5181488"/>
            <a:ext cx="967740" cy="3067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 sz="1400"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53E65E5-4933-4A5A-AD46-62A2AD8772B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构建会学习、会记忆、会行动的通用数字智能体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328747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2E485BF-6C9C-4868-ACD8-1ADE6C01AD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个人概览｜研究主线与影响力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0A0A1A26-1F7D-4842-9B1C-D6F2C5DA6F1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205345"/>
            <a:ext cx="7886700" cy="497161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研究定位｜通用数字智能体与 GUI Agent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当前身份｜浙江大学控制学院博士生 · ZJU APRIL Lab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研究产出｜5 篇一作代表作 · ACM MM / ACL / TMLR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学术影响｜415 次引用 · 122 次一作引用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开源影响｜632 个一作项目 GitHub Stars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1696478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778BB6FC-2B7E-4DC6-A9C6-14BE1C7FA0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教育与成长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9138D245-9F3A-4418-A462-4334123235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2019–2023｜中国矿业大学 自动化｜专业第 1/203 · 两次国家奖学金</a:t>
            </a:r>
            <a:endParaRPr/>
          </a:p>
          <a:p xmlns:a="http://schemas.openxmlformats.org/drawingml/2006/main">
            <a:r>
              <a:t>2023–2025｜浙江大学 硕士｜NeSC Group</a:t>
            </a:r>
            <a:endParaRPr/>
          </a:p>
          <a:p xmlns:a="http://schemas.openxmlformats.org/drawingml/2006/main">
            <a:r>
              <a:t>2025–2028｜浙江大学 博士｜APRIL Lab · 预计 2028.06 毕业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534735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37E0380-09A4-4FC3-81F7-9F75D39A69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产业研究经历｜从算法原型到真实系统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C920FB2C-DCAE-4A7F-9B57-6DDF3195C7A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385889"/>
            <a:ext cx="78867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vivo AI Lab（2024.08–2025.08）｜参与 PhoneGPT；研究示范学习、在线评测与记忆基准</a:t>
            </a:r>
            <a:endParaRPr/>
          </a:p>
          <a:p xmlns:a="http://schemas.openxmlformats.org/drawingml/2006/main">
            <a:r>
              <a:t>快手（2025.08–2026.07）｜研究 Agent 后训练、长程上下文管理与 App 缺陷检测</a:t>
            </a:r>
            <a:endParaRPr/>
          </a:p>
          <a:p xmlns:a="http://schemas.openxmlformats.org/drawingml/2006/main">
            <a:r>
              <a:t>研究｜提出问题并验证方法</a:t>
            </a:r>
            <a:endParaRPr/>
          </a:p>
          <a:p xmlns:a="http://schemas.openxmlformats.org/drawingml/2006/main">
            <a:r>
              <a:t>工程｜搭建环境、数据流水线与自动评测</a:t>
            </a:r>
            <a:endParaRPr/>
          </a:p>
          <a:p xmlns:a="http://schemas.openxmlformats.org/drawingml/2006/main">
            <a:pPr lvl="1">
              <a:buNone/>
            </a:pPr>
            <a:r>
              <a:t>应用｜把 Agent 研究接入真实产品工作流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924618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9829478-D7FF-4D9C-AEA6-C0C117008E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研究主线｜让智能体在真实数字环境中持续进化</a:t>
            </a:r>
            <a:endParaRPr/>
          </a:p>
        </p:txBody>
      </p:sp>
      <p:sp>
        <p:nvSpPr>
          <p:cNvPr id="4" name="同侧圆角矩形 3">
            <a:extLst xmlns:a="http://schemas.openxmlformats.org/drawingml/2006/main">
              <a:ext uri="{FF2B5EF4-FFF2-40B4-BE49-F238E27FC236}">
                <a16:creationId xmlns:a16="http://schemas.microsoft.com/office/drawing/2014/main" id="{C38D941F-7C50-475B-B262-0B5CF28A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88379"/>
            <a:ext cx="7981094" cy="493954"/>
          </a:xfrm>
          <a:prstGeom xmlns:a="http://schemas.openxmlformats.org/drawingml/2006/main" prst="round2SameRect">
            <a:avLst>
              <a:gd name="adj1" fmla="val 30340"/>
              <a:gd name="adj2" fmla="val 0"/>
            </a:avLst>
          </a:prstGeom>
          <a:gradFill xmlns:a="http://schemas.openxmlformats.org/drawingml/2006/main" rotWithShape="1">
            <a:gsLst>
              <a:gs pos="40000">
                <a:schemeClr val="accent2"/>
              </a:gs>
              <a:gs pos="13000">
                <a:schemeClr val="accent2"/>
              </a:gs>
              <a:gs pos="0">
                <a:srgbClr val="F6ECE2"/>
              </a:gs>
            </a:gsLst>
            <a:lin ang="16200000" scaled="0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 b="1"/>
          </a:p>
        </p:txBody>
      </p:sp>
      <p:sp>
        <p:nvSpPr>
          <p:cNvPr id="5" name="文本占位符 8">
            <a:extLst xmlns:a="http://schemas.openxmlformats.org/drawingml/2006/main">
              <a:ext uri="{FF2B5EF4-FFF2-40B4-BE49-F238E27FC236}">
                <a16:creationId xmlns:a16="http://schemas.microsoft.com/office/drawing/2014/main" id="{8D1FEBBA-9599-4CED-B057-47FC4B81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3396" y="2158240"/>
            <a:ext cx="4071937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l" defTabSz="685800">
              <a:lnSpc>
                <a:spcPct val="90000"/>
              </a:lnSpc>
              <a:spcBef>
                <a:spcPts val="750"/>
              </a:spcBef>
              <a:buClr>
                <a:schemeClr val="accent1"/>
              </a:buClr>
              <a:buFont typeface="Arial"/>
              <a:buNone/>
              <a:defRPr sz="1800" b="1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5143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572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001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5430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8859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2288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5717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9146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t>通用数字智能体</a:t>
            </a:r>
            <a:endParaRPr/>
          </a:p>
        </p:txBody>
      </p:sp>
      <p:sp>
        <p:nvSpPr>
          <p:cNvPr id="6" name="文本占位符 10">
            <a:extLst xmlns:a="http://schemas.openxmlformats.org/drawingml/2006/main">
              <a:ext uri="{FF2B5EF4-FFF2-40B4-BE49-F238E27FC236}">
                <a16:creationId xmlns:a16="http://schemas.microsoft.com/office/drawing/2014/main" id="{0A1E39C1-379E-4A12-A155-692C3CD1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582332"/>
            <a:ext cx="7981094" cy="2115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E2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xmlns:a="http://schemas.openxmlformats.org/drawingml/2006/main" tIns="90000">
            <a:noAutofit/>
          </a:bodyPr>
          <a:lstStyle xmlns:a="http://schemas.openxmlformats.org/drawingml/2006/main">
            <a:lvl1pPr marL="273050" indent="-273050" algn="l" defTabSz="685800">
              <a:lnSpc>
                <a:spcPct val="90000"/>
              </a:lnSpc>
              <a:spcBef>
                <a:spcPts val="750"/>
              </a:spcBef>
              <a:buClr>
                <a:schemeClr val="accent1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143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572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001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5430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8859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2288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5717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9146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t>Learn｜示范学习、反馈学习、强化学习与后训练</a:t>
            </a:r>
            <a:endParaRPr/>
          </a:p>
          <a:p xmlns:a="http://schemas.openxmlformats.org/drawingml/2006/main">
            <a:r>
              <a:t>Remember｜上下文管理、经验复用与持续适应</a:t>
            </a:r>
            <a:endParaRPr/>
          </a:p>
          <a:p xmlns:a="http://schemas.openxmlformats.org/drawingml/2006/main">
            <a:r>
              <a:t>Evaluate｜在线协议、可解释指标与失败诊断</a:t>
            </a:r>
            <a:endParaRPr/>
          </a:p>
          <a:p xmlns:a="http://schemas.openxmlformats.org/drawingml/2006/main">
            <a:r>
              <a:t>Act｜跨 App 工具使用与长程任务执行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6761375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E3D36C2-47CC-49F3-9AF3-A58FB012AC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端到端能力闭环｜从问题定义到可复现系统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E67D084-D7A1-46C8-9A1F-A63F27C1C0C2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205345"/>
            <a:ext cx="7886700" cy="497161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环境｜应用探索、任务执行、重置与交互日志</a:t>
            </a:r>
            <a:endParaRPr/>
          </a:p>
          <a:p xmlns:a="http://schemas.openxmlformats.org/drawingml/2006/main">
            <a:r>
              <a:t>数据｜示范、Rollout、反馈、提示与记忆轨迹</a:t>
            </a:r>
            <a:endParaRPr/>
          </a:p>
          <a:p xmlns:a="http://schemas.openxmlformats.org/drawingml/2006/main">
            <a:r>
              <a:t>策略｜Prompt、SFT、强化学习与上下文动作</a:t>
            </a:r>
            <a:endParaRPr/>
          </a:p>
          <a:p xmlns:a="http://schemas.openxmlformats.org/drawingml/2006/main">
            <a:r>
              <a:t>评测｜在线成功率、Pass@k、渐进审查与失败分类</a:t>
            </a:r>
            <a:endParaRPr/>
          </a:p>
          <a:p xmlns:a="http://schemas.openxmlformats.org/drawingml/2006/main">
            <a:r>
              <a:t>系统｜连接探索、学习、评测与部署的可复现流水线</a:t>
            </a:r>
            <a:endParaRPr/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539B3294-EA58-4091-A26D-020AEA87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52650" y="3408685"/>
            <a:ext cx="7890933" cy="56493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ECE2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D4BA2FA3-C137-4D82-BF4F-EB45446B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67037" y="3506488"/>
            <a:ext cx="2468880" cy="36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先找到能力瓶颈，再搭建可测基础设施，最后用数据与策略完成闭环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811670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D746E53F-CA32-428D-BC6B-9375157973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五篇一作，沿一条主线逐步推进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EF27DF9D-CC21-46D3-973B-1C83E373BB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领域综述 → LearnAct → MemGUI-Bench → MobileForge → MemGUI-Agent</a:t>
            </a:r>
            <a:endParaRPr/>
          </a:p>
          <a:p xmlns:a="http://schemas.openxmlformats.org/drawingml/2006/main">
            <a:r>
              <a:t>从认识问题，到示范学习、记忆评测、自进化训练与端到端长程智能体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0810108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2026-08-09T04:21:46.4150000Z</dcterms:created>
  <dcterms:modified xsi:type="dcterms:W3CDTF">2026-08-09T04:21:46.4150000Z</dcterms:modified>
</coreProperties>
</file>